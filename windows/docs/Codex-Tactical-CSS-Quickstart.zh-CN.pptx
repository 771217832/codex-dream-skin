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ackground">
            <a:extLst>
              <a:ext uri="{FF2B5EF4-FFF2-40B4-BE49-F238E27FC236}">
                <a16:creationId xmlns:a16="http://schemas.microsoft.com/office/drawing/2014/main" id="{C16D229C-76DB-4C6D-B934-216667EC5D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6B84B6-8222-4B7C-8477-BBB577F51A0A}"/>
              </a:ext>
            </a:extLst>
          </p:cNvPr>
          <p:cNvSpPr>
            <a:spLocks noGrp="1"/>
          </p:cNvSpPr>
          <p:nvPr/>
        </p:nvSpPr>
        <p:spPr>
          <a:xfrm>
            <a:off x="0" y="2286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55E871-5A29-4E25-86B7-78E1D06A248B}"/>
              </a:ext>
            </a:extLst>
          </p:cNvPr>
          <p:cNvSpPr>
            <a:spLocks noGrp="1"/>
          </p:cNvSpPr>
          <p:nvPr/>
        </p:nvSpPr>
        <p:spPr>
          <a:xfrm>
            <a:off x="0" y="3429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A44686-98DD-4177-BF6B-63A65E9C0136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706A54-62CD-43A7-BD97-66555CD3F94D}"/>
              </a:ext>
            </a:extLst>
          </p:cNvPr>
          <p:cNvSpPr>
            <a:spLocks noGrp="1"/>
          </p:cNvSpPr>
          <p:nvPr/>
        </p:nvSpPr>
        <p:spPr>
          <a:xfrm>
            <a:off x="0" y="5715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A1D6D1-B6DD-4285-8033-FAB88145DBAE}"/>
              </a:ext>
            </a:extLst>
          </p:cNvPr>
          <p:cNvSpPr>
            <a:spLocks noGrp="1"/>
          </p:cNvSpPr>
          <p:nvPr/>
        </p:nvSpPr>
        <p:spPr>
          <a:xfrm>
            <a:off x="0" y="6858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E3555C-162B-4B1B-9EE2-9A2CDA934261}"/>
              </a:ext>
            </a:extLst>
          </p:cNvPr>
          <p:cNvSpPr>
            <a:spLocks noGrp="1"/>
          </p:cNvSpPr>
          <p:nvPr/>
        </p:nvSpPr>
        <p:spPr>
          <a:xfrm>
            <a:off x="0" y="8001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8B05DD-2B75-4410-B501-31660EEF0F43}"/>
              </a:ext>
            </a:extLst>
          </p:cNvPr>
          <p:cNvSpPr>
            <a:spLocks noGrp="1"/>
          </p:cNvSpPr>
          <p:nvPr/>
        </p:nvSpPr>
        <p:spPr>
          <a:xfrm>
            <a:off x="0" y="9144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C6FBB6-3628-4907-B407-4611943AC41B}"/>
              </a:ext>
            </a:extLst>
          </p:cNvPr>
          <p:cNvSpPr>
            <a:spLocks noGrp="1"/>
          </p:cNvSpPr>
          <p:nvPr/>
        </p:nvSpPr>
        <p:spPr>
          <a:xfrm>
            <a:off x="0" y="10287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DC76CD-4B65-4BD0-BD8A-0B25C268D729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2B5305-682E-48C9-94EA-1BE7A20C9205}"/>
              </a:ext>
            </a:extLst>
          </p:cNvPr>
          <p:cNvSpPr>
            <a:spLocks noGrp="1"/>
          </p:cNvSpPr>
          <p:nvPr/>
        </p:nvSpPr>
        <p:spPr>
          <a:xfrm>
            <a:off x="0" y="12573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33CCFB-938F-45F1-98B5-79AB3792D30D}"/>
              </a:ext>
            </a:extLst>
          </p:cNvPr>
          <p:cNvSpPr>
            <a:spLocks noGrp="1"/>
          </p:cNvSpPr>
          <p:nvPr/>
        </p:nvSpPr>
        <p:spPr>
          <a:xfrm>
            <a:off x="0" y="13716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0CD386-A8FC-4C9E-8CC2-C8FBD3EDA15E}"/>
              </a:ext>
            </a:extLst>
          </p:cNvPr>
          <p:cNvSpPr>
            <a:spLocks noGrp="1"/>
          </p:cNvSpPr>
          <p:nvPr/>
        </p:nvSpPr>
        <p:spPr>
          <a:xfrm>
            <a:off x="0" y="14859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C92E2F-4FEE-499F-8BFD-9C1B177DFCB7}"/>
              </a:ext>
            </a:extLst>
          </p:cNvPr>
          <p:cNvSpPr>
            <a:spLocks noGrp="1"/>
          </p:cNvSpPr>
          <p:nvPr/>
        </p:nvSpPr>
        <p:spPr>
          <a:xfrm>
            <a:off x="0" y="16002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D3C225-B04D-404D-84F5-1CE70EFAD59C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629E71-3198-49E4-BFC1-53F13F51E4F7}"/>
              </a:ext>
            </a:extLst>
          </p:cNvPr>
          <p:cNvSpPr>
            <a:spLocks noGrp="1"/>
          </p:cNvSpPr>
          <p:nvPr/>
        </p:nvSpPr>
        <p:spPr>
          <a:xfrm>
            <a:off x="0" y="18288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2C95C1-4786-4774-95F7-DAF182860909}"/>
              </a:ext>
            </a:extLst>
          </p:cNvPr>
          <p:cNvSpPr>
            <a:spLocks noGrp="1"/>
          </p:cNvSpPr>
          <p:nvPr/>
        </p:nvSpPr>
        <p:spPr>
          <a:xfrm>
            <a:off x="0" y="19431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4C3978-79B5-44F5-B1AF-DD8FCF525B5A}"/>
              </a:ext>
            </a:extLst>
          </p:cNvPr>
          <p:cNvSpPr>
            <a:spLocks noGrp="1"/>
          </p:cNvSpPr>
          <p:nvPr/>
        </p:nvSpPr>
        <p:spPr>
          <a:xfrm>
            <a:off x="0" y="20574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0A3BE6-57FB-48FE-83AA-735F263B5FB0}"/>
              </a:ext>
            </a:extLst>
          </p:cNvPr>
          <p:cNvSpPr>
            <a:spLocks noGrp="1"/>
          </p:cNvSpPr>
          <p:nvPr/>
        </p:nvSpPr>
        <p:spPr>
          <a:xfrm>
            <a:off x="0" y="21717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8C30A2-7D7F-4D0A-BFC0-9EA28280C56F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05BEFD-B05E-4BBC-8DA4-9B52BB12BEB1}"/>
              </a:ext>
            </a:extLst>
          </p:cNvPr>
          <p:cNvSpPr>
            <a:spLocks noGrp="1"/>
          </p:cNvSpPr>
          <p:nvPr/>
        </p:nvSpPr>
        <p:spPr>
          <a:xfrm>
            <a:off x="0" y="24003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0EAECD-CD65-403F-A9AF-08DBA5E0027B}"/>
              </a:ext>
            </a:extLst>
          </p:cNvPr>
          <p:cNvSpPr>
            <a:spLocks noGrp="1"/>
          </p:cNvSpPr>
          <p:nvPr/>
        </p:nvSpPr>
        <p:spPr>
          <a:xfrm>
            <a:off x="0" y="25146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9204DA-6879-4902-B5CE-4EEF01EC78D4}"/>
              </a:ext>
            </a:extLst>
          </p:cNvPr>
          <p:cNvSpPr>
            <a:spLocks noGrp="1"/>
          </p:cNvSpPr>
          <p:nvPr/>
        </p:nvSpPr>
        <p:spPr>
          <a:xfrm>
            <a:off x="0" y="26289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A05B86-19A6-4086-9A59-2A016DF12405}"/>
              </a:ext>
            </a:extLst>
          </p:cNvPr>
          <p:cNvSpPr>
            <a:spLocks noGrp="1"/>
          </p:cNvSpPr>
          <p:nvPr/>
        </p:nvSpPr>
        <p:spPr>
          <a:xfrm>
            <a:off x="0" y="27432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40523E-FB55-4A42-8475-72CD47366066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C8A5C8-0E54-41B1-A0C7-A5B9CD457916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E23CD7-0456-4865-8B1E-F202BEBA3420}"/>
              </a:ext>
            </a:extLst>
          </p:cNvPr>
          <p:cNvSpPr>
            <a:spLocks noGrp="1"/>
          </p:cNvSpPr>
          <p:nvPr/>
        </p:nvSpPr>
        <p:spPr>
          <a:xfrm>
            <a:off x="0" y="30861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6E1C03-9508-4D57-A6BF-6FB1DA610F13}"/>
              </a:ext>
            </a:extLst>
          </p:cNvPr>
          <p:cNvSpPr>
            <a:spLocks noGrp="1"/>
          </p:cNvSpPr>
          <p:nvPr/>
        </p:nvSpPr>
        <p:spPr>
          <a:xfrm>
            <a:off x="0" y="32004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CE3CF2F-322D-4BDD-AEC1-581CAB1942A5}"/>
              </a:ext>
            </a:extLst>
          </p:cNvPr>
          <p:cNvSpPr>
            <a:spLocks noGrp="1"/>
          </p:cNvSpPr>
          <p:nvPr/>
        </p:nvSpPr>
        <p:spPr>
          <a:xfrm>
            <a:off x="0" y="33147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5A985F-9481-4A2A-80C8-DB2AF1717C0A}"/>
              </a:ext>
            </a:extLst>
          </p:cNvPr>
          <p:cNvSpPr>
            <a:spLocks noGrp="1"/>
          </p:cNvSpPr>
          <p:nvPr/>
        </p:nvSpPr>
        <p:spPr>
          <a:xfrm>
            <a:off x="0" y="34290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C30C5D-06BA-4EEF-973C-DBB4153F6688}"/>
              </a:ext>
            </a:extLst>
          </p:cNvPr>
          <p:cNvSpPr>
            <a:spLocks noGrp="1"/>
          </p:cNvSpPr>
          <p:nvPr/>
        </p:nvSpPr>
        <p:spPr>
          <a:xfrm>
            <a:off x="0" y="35433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0482BB-7553-49F8-8E04-4F0A41A8AF19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07586E-4655-4F38-8605-9E865AD63BF4}"/>
              </a:ext>
            </a:extLst>
          </p:cNvPr>
          <p:cNvSpPr>
            <a:spLocks noGrp="1"/>
          </p:cNvSpPr>
          <p:nvPr/>
        </p:nvSpPr>
        <p:spPr>
          <a:xfrm>
            <a:off x="0" y="37719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2D36C39-4E03-4046-BAEB-C9169B74590E}"/>
              </a:ext>
            </a:extLst>
          </p:cNvPr>
          <p:cNvSpPr>
            <a:spLocks noGrp="1"/>
          </p:cNvSpPr>
          <p:nvPr/>
        </p:nvSpPr>
        <p:spPr>
          <a:xfrm>
            <a:off x="0" y="38862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119755-157D-43C8-A612-F8AAFC987EB0}"/>
              </a:ext>
            </a:extLst>
          </p:cNvPr>
          <p:cNvSpPr>
            <a:spLocks noGrp="1"/>
          </p:cNvSpPr>
          <p:nvPr/>
        </p:nvSpPr>
        <p:spPr>
          <a:xfrm>
            <a:off x="0" y="40005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951F67D-4E98-4098-A3A3-FF9808CD56A5}"/>
              </a:ext>
            </a:extLst>
          </p:cNvPr>
          <p:cNvSpPr>
            <a:spLocks noGrp="1"/>
          </p:cNvSpPr>
          <p:nvPr/>
        </p:nvSpPr>
        <p:spPr>
          <a:xfrm>
            <a:off x="0" y="41148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90E90AE-83D9-4366-9FC1-5DC336C302F8}"/>
              </a:ext>
            </a:extLst>
          </p:cNvPr>
          <p:cNvSpPr>
            <a:spLocks noGrp="1"/>
          </p:cNvSpPr>
          <p:nvPr/>
        </p:nvSpPr>
        <p:spPr>
          <a:xfrm>
            <a:off x="0" y="42291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2C93E99-8164-4EF1-8F9F-EB9E3A8147F7}"/>
              </a:ext>
            </a:extLst>
          </p:cNvPr>
          <p:cNvSpPr>
            <a:spLocks noGrp="1"/>
          </p:cNvSpPr>
          <p:nvPr/>
        </p:nvSpPr>
        <p:spPr>
          <a:xfrm>
            <a:off x="0" y="43434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BBBCB76-33AD-443A-816A-653192E005AF}"/>
              </a:ext>
            </a:extLst>
          </p:cNvPr>
          <p:cNvSpPr>
            <a:spLocks noGrp="1"/>
          </p:cNvSpPr>
          <p:nvPr/>
        </p:nvSpPr>
        <p:spPr>
          <a:xfrm>
            <a:off x="0" y="44577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7CF3631-7098-4279-9172-DBC2B76E8C9A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6C360C9-3033-483A-B0B6-D5082D6CA632}"/>
              </a:ext>
            </a:extLst>
          </p:cNvPr>
          <p:cNvSpPr>
            <a:spLocks noGrp="1"/>
          </p:cNvSpPr>
          <p:nvPr/>
        </p:nvSpPr>
        <p:spPr>
          <a:xfrm>
            <a:off x="0" y="46863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DE58B4E-91C8-429D-B6C7-109A4ACA80B2}"/>
              </a:ext>
            </a:extLst>
          </p:cNvPr>
          <p:cNvSpPr>
            <a:spLocks noGrp="1"/>
          </p:cNvSpPr>
          <p:nvPr/>
        </p:nvSpPr>
        <p:spPr>
          <a:xfrm>
            <a:off x="0" y="48006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52952D3-2D26-4449-9C15-D8798FE20CD6}"/>
              </a:ext>
            </a:extLst>
          </p:cNvPr>
          <p:cNvSpPr>
            <a:spLocks noGrp="1"/>
          </p:cNvSpPr>
          <p:nvPr/>
        </p:nvSpPr>
        <p:spPr>
          <a:xfrm>
            <a:off x="0" y="49149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3BA83E5-3A12-49B7-B4F0-7CF066F9D3A3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BE14001-3A53-4E34-973D-B111D73B6A2A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784B873-7A53-4FE7-A40E-67057392DB35}"/>
              </a:ext>
            </a:extLst>
          </p:cNvPr>
          <p:cNvSpPr>
            <a:spLocks noGrp="1"/>
          </p:cNvSpPr>
          <p:nvPr/>
        </p:nvSpPr>
        <p:spPr>
          <a:xfrm>
            <a:off x="0" y="52578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B322CD1-5572-4B13-AF72-DFDC8DDFB5F1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8B98C1D-BD49-43C5-B02F-3774A77D11D1}"/>
              </a:ext>
            </a:extLst>
          </p:cNvPr>
          <p:cNvSpPr>
            <a:spLocks noGrp="1"/>
          </p:cNvSpPr>
          <p:nvPr/>
        </p:nvSpPr>
        <p:spPr>
          <a:xfrm>
            <a:off x="0" y="54864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61EC4EC-E7EA-40A3-848C-79089B9DF4E2}"/>
              </a:ext>
            </a:extLst>
          </p:cNvPr>
          <p:cNvSpPr>
            <a:spLocks noGrp="1"/>
          </p:cNvSpPr>
          <p:nvPr/>
        </p:nvSpPr>
        <p:spPr>
          <a:xfrm>
            <a:off x="0" y="56007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13BF8C-20A1-4D3E-AC82-39DCD3DC0B1E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E2CF03A-D005-43B6-9FCF-0A811E5F3C5B}"/>
              </a:ext>
            </a:extLst>
          </p:cNvPr>
          <p:cNvSpPr>
            <a:spLocks noGrp="1"/>
          </p:cNvSpPr>
          <p:nvPr/>
        </p:nvSpPr>
        <p:spPr>
          <a:xfrm>
            <a:off x="0" y="58293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3163613-BC9F-408A-9CB1-698107D33EA4}"/>
              </a:ext>
            </a:extLst>
          </p:cNvPr>
          <p:cNvSpPr>
            <a:spLocks noGrp="1"/>
          </p:cNvSpPr>
          <p:nvPr/>
        </p:nvSpPr>
        <p:spPr>
          <a:xfrm>
            <a:off x="0" y="59436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27B146F-2DF4-4254-B3E2-97DC829E674E}"/>
              </a:ext>
            </a:extLst>
          </p:cNvPr>
          <p:cNvSpPr>
            <a:spLocks noGrp="1"/>
          </p:cNvSpPr>
          <p:nvPr/>
        </p:nvSpPr>
        <p:spPr>
          <a:xfrm>
            <a:off x="0" y="60579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EB08812-887E-4887-8879-D11FCEEB0F7D}"/>
              </a:ext>
            </a:extLst>
          </p:cNvPr>
          <p:cNvSpPr>
            <a:spLocks noGrp="1"/>
          </p:cNvSpPr>
          <p:nvPr/>
        </p:nvSpPr>
        <p:spPr>
          <a:xfrm>
            <a:off x="0" y="61722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173DC31-1B53-4F66-BAC7-D12A971F5E8F}"/>
              </a:ext>
            </a:extLst>
          </p:cNvPr>
          <p:cNvSpPr>
            <a:spLocks noGrp="1"/>
          </p:cNvSpPr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30BA03F-B774-42DD-92AD-A8561BB455D7}"/>
              </a:ext>
            </a:extLst>
          </p:cNvPr>
          <p:cNvSpPr>
            <a:spLocks noGrp="1"/>
          </p:cNvSpPr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A829575-629D-4F02-9C2D-8071B09D54D2}"/>
              </a:ext>
            </a:extLst>
          </p:cNvPr>
          <p:cNvSpPr>
            <a:spLocks noGrp="1"/>
          </p:cNvSpPr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E10114C-1256-40CC-89D4-488E055EAA62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86B164A-B64B-46DB-9A36-D1845543EC94}"/>
              </a:ext>
            </a:extLst>
          </p:cNvPr>
          <p:cNvSpPr>
            <a:spLocks noGrp="1"/>
          </p:cNvSpPr>
          <p:nvPr/>
        </p:nvSpPr>
        <p:spPr>
          <a:xfrm>
            <a:off x="0" y="6743700"/>
            <a:ext cx="121920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F9B27BA-21B0-48D8-8523-A873ACAE9C08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11925300" cy="65913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B7B9C30-7D9F-4E9D-ADBC-BE960731ABE7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571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CODEX_TACTICAL / CSS_BOOT_SEQUENCE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D71BEDE-E008-428E-B7E4-E9E3771073AE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5381625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4200" b="1">
                <a:solidFill>
                  <a:srgbClr val="F6EAC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1">
                <a:solidFill>
                  <a:srgbClr val="F6EAC9"/>
                </a:solidFill>
                <a:latin typeface="Microsoft YaHei UI"/>
                <a:ea typeface="Microsoft YaHei UI"/>
                <a:cs typeface="Microsoft YaHei UI"/>
              </a:rPr>
              <a:t>用真实界面</a:t>
            </a:r>
          </a:p>
          <a:p>
            <a:pPr algn="l">
              <a:defRPr sz="4200" b="1">
                <a:solidFill>
                  <a:srgbClr val="F6EAC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200" b="1">
                <a:solidFill>
                  <a:srgbClr val="F6EAC9"/>
                </a:solidFill>
                <a:latin typeface="Microsoft YaHei UI"/>
                <a:ea typeface="Microsoft YaHei UI"/>
                <a:cs typeface="Microsoft YaHei UI"/>
              </a:rPr>
              <a:t>快速学会 CSS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14F4BFF-8805-448F-95B4-FC8990CE872E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5048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从选择器、盒模型与定位，到滚动条和 DOM 注入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B07C3D3-9126-4CC6-96CC-AB2E448D6569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1600200" cy="2667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573799C-DC77-4C3E-BF7D-660898A97C7A}"/>
              </a:ext>
            </a:extLst>
          </p:cNvPr>
          <p:cNvSpPr>
            <a:spLocks noGrp="1"/>
          </p:cNvSpPr>
          <p:nvPr/>
        </p:nvSpPr>
        <p:spPr>
          <a:xfrm>
            <a:off x="552450" y="3838575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PROJECT-DRIVEN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CD221FA-D6F4-43D6-93A1-306F22B16902}"/>
              </a:ext>
            </a:extLst>
          </p:cNvPr>
          <p:cNvSpPr>
            <a:spLocks noGrp="1"/>
          </p:cNvSpPr>
          <p:nvPr/>
        </p:nvSpPr>
        <p:spPr>
          <a:xfrm>
            <a:off x="2266950" y="3829050"/>
            <a:ext cx="1562100" cy="2667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333CEB2-535B-4206-91CC-33F5220838BF}"/>
              </a:ext>
            </a:extLst>
          </p:cNvPr>
          <p:cNvSpPr>
            <a:spLocks noGrp="1"/>
          </p:cNvSpPr>
          <p:nvPr/>
        </p:nvSpPr>
        <p:spPr>
          <a:xfrm>
            <a:off x="2266950" y="3838575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EDITABLE PPTX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137DF0B-BFF3-4F9E-8138-6B42EA30AC4C}"/>
              </a:ext>
            </a:extLst>
          </p:cNvPr>
          <p:cNvSpPr>
            <a:spLocks noGrp="1"/>
          </p:cNvSpPr>
          <p:nvPr/>
        </p:nvSpPr>
        <p:spPr>
          <a:xfrm>
            <a:off x="3943350" y="3829050"/>
            <a:ext cx="1257300" cy="2667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3B5CDDE-9A00-4081-93BD-4EC11E715E33}"/>
              </a:ext>
            </a:extLst>
          </p:cNvPr>
          <p:cNvSpPr>
            <a:spLocks noGrp="1"/>
          </p:cNvSpPr>
          <p:nvPr/>
        </p:nvSpPr>
        <p:spPr>
          <a:xfrm>
            <a:off x="3943350" y="3838575"/>
            <a:ext cx="1257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19 SLIDES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389A2CC-8286-4FE1-8474-3B769938F9D3}"/>
              </a:ext>
            </a:extLst>
          </p:cNvPr>
          <p:cNvSpPr>
            <a:spLocks noGrp="1"/>
          </p:cNvSpPr>
          <p:nvPr/>
        </p:nvSpPr>
        <p:spPr>
          <a:xfrm>
            <a:off x="6153150" y="704850"/>
            <a:ext cx="5391150" cy="510540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0" y="1404290"/>
            <a:ext cx="5124450" cy="3706520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4D352EBE-E131-4240-83DA-FED40C726412}"/>
              </a:ext>
            </a:extLst>
          </p:cNvPr>
          <p:cNvSpPr>
            <a:spLocks noGrp="1"/>
          </p:cNvSpPr>
          <p:nvPr/>
        </p:nvSpPr>
        <p:spPr>
          <a:xfrm>
            <a:off x="552450" y="59626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E:\CodexUi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E8F94D8-E8C1-4A1B-B9B8-53E13A5A091B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SELF-STUDY DECK · 2026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591647B-C504-4F6A-B187-85412E42D9EB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8286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43844432-8B0F-4AC9-9F27-639C5C20A4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1CC2792B-7AC8-4497-A667-C2B5CE1B58D8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C37CE2FF-6C6D-475B-866E-F879FFD61793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2FC67189-C168-4D5E-8E80-A5A5FFB1F0EB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14F1C345-5D94-4F4F-B92F-60223A0F8607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6893B653-3545-41B5-AC96-C157486DD762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F5E14C8B-9619-4835-8EEF-6058932E3BCD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61C9929F-CCEF-4E14-B5CA-06F389D722A2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9236D1C0-B10B-474D-AF22-0CFC5E749321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FB2AA0CD-E204-426D-BA48-915E5EB3C1F9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218AA0DC-153A-484C-BF9D-5E25E029A008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B1137072-D19B-4856-A9C6-61467349416D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23C6A19F-3D99-4F25-8CD5-AE5297027AFC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A76DED6A-82AD-492A-83C9-976A80F50BBE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E5AED909-9114-4ECD-A4B0-681F2F8A9EBC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C38F9CD2-0F10-4771-AC57-68E4DE73C475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3EE291FD-C1CB-40E2-832A-CB94BB5610F6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90B6C563-A5E3-4701-8DF8-CF264DFAA271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F3AFA8B0-90DC-4655-9C80-39EFBC5EC6B9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2-marker">
            <a:extLst>
              <a:ext uri="{FF2B5EF4-FFF2-40B4-BE49-F238E27FC236}">
                <a16:creationId xmlns:a16="http://schemas.microsoft.com/office/drawing/2014/main" id="{599E63B2-F915-48D9-A543-A10FB7786F2C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2-label">
            <a:extLst>
              <a:ext uri="{FF2B5EF4-FFF2-40B4-BE49-F238E27FC236}">
                <a16:creationId xmlns:a16="http://schemas.microsoft.com/office/drawing/2014/main" id="{82EF6F0E-06A5-4D20-AD24-BB580D7B7DD0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02.SYSTEM_MAP</a:t>
            </a:r>
          </a:p>
        </p:txBody>
      </p:sp>
      <p:sp>
        <p:nvSpPr>
          <p:cNvPr id="22" name="slide-2-title">
            <a:extLst>
              <a:ext uri="{FF2B5EF4-FFF2-40B4-BE49-F238E27FC236}">
                <a16:creationId xmlns:a16="http://schemas.microsoft.com/office/drawing/2014/main" id="{B81FDFD5-AED8-4867-85BA-8F00834958CE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六个可见模块，只对应几类 CSS 职责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EA0F6406-530B-4655-AA11-D7480B7AA338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5001EFE7-A1F8-4C64-B8F1-C68B73A7BBE4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428AB387-953A-4308-BA33-37853EDF913B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6C3D63-ED48-4217-8333-46EF99C46918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1714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BC88D5-25E5-4B60-8CEA-A54FB1F6F096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HEADER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37D8A9-E39A-4BD6-9F06-B610D5D50D14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Flex · margin · pseudo-element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FD7F896-D367-4FEE-B682-745FC8C49F02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1714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CD3990-C697-4EC3-82DD-95A5EE12A39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01.NAVIGATION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3E212FD-4A0C-4E33-9F7D-58CF08050B5C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sticky · border · z-index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141D5A-E0AC-4CA4-969C-C4A0390FA3A6}"/>
              </a:ext>
            </a:extLst>
          </p:cNvPr>
          <p:cNvSpPr>
            <a:spLocks noGrp="1"/>
          </p:cNvSpPr>
          <p:nvPr/>
        </p:nvSpPr>
        <p:spPr>
          <a:xfrm>
            <a:off x="457200" y="3067050"/>
            <a:ext cx="171450" cy="2857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B63C86-C0DA-4234-9AA7-87FE6F2D672F}"/>
              </a:ext>
            </a:extLst>
          </p:cNvPr>
          <p:cNvSpPr>
            <a:spLocks noGrp="1"/>
          </p:cNvSpPr>
          <p:nvPr/>
        </p:nvSpPr>
        <p:spPr>
          <a:xfrm>
            <a:off x="742950" y="2895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02.PROJECTS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65BBADB-95A3-4F89-9D13-0C9A8A9CE6E2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overflow · runtime geometry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2EFA22-6309-4B2F-AE7E-729C422EAE70}"/>
              </a:ext>
            </a:extLst>
          </p:cNvPr>
          <p:cNvSpPr>
            <a:spLocks noGrp="1"/>
          </p:cNvSpPr>
          <p:nvPr/>
        </p:nvSpPr>
        <p:spPr>
          <a:xfrm>
            <a:off x="457200" y="3848100"/>
            <a:ext cx="171450" cy="2857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A5A02CB-AE9C-48A4-99BA-4CF894B588AD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03.MAIN_TASK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37B66EA-B314-47B2-8580-E564506752C2}"/>
              </a:ext>
            </a:extLst>
          </p:cNvPr>
          <p:cNvSpPr>
            <a:spLocks noGrp="1"/>
          </p:cNvSpPr>
          <p:nvPr/>
        </p:nvSpPr>
        <p:spPr>
          <a:xfrm>
            <a:off x="742950" y="3986948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frame · content surface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3BB300-20B8-4090-966A-F83FF02B4AC2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1714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8658F96-CB47-454C-BAA5-447E1298927C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TASK_COMPOSER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77B7C19-025E-4946-854D-32123132CC1B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section · inset line · ::before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89ECE9-99E9-498C-922F-F4B02D3473DD}"/>
              </a:ext>
            </a:extLst>
          </p:cNvPr>
          <p:cNvSpPr>
            <a:spLocks noGrp="1"/>
          </p:cNvSpPr>
          <p:nvPr/>
        </p:nvSpPr>
        <p:spPr>
          <a:xfrm>
            <a:off x="457200" y="5410200"/>
            <a:ext cx="171450" cy="28575"/>
          </a:xfrm>
          <a:prstGeom prst="rect">
            <a:avLst/>
          </a:prstGeom>
          <a:solidFill>
            <a:srgbClr val="B8A477"/>
          </a:solidFill>
          <a:ln w="0">
            <a:solidFill>
              <a:srgbClr val="B8A477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8D7B075-F534-4F3B-9D86-7E48255F1A09}"/>
              </a:ext>
            </a:extLst>
          </p:cNvPr>
          <p:cNvSpPr>
            <a:spLocks noGrp="1"/>
          </p:cNvSpPr>
          <p:nvPr/>
        </p:nvSpPr>
        <p:spPr>
          <a:xfrm>
            <a:off x="742950" y="52387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 dirty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FOOTER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CC1A24-3610-467F-936E-BB769D3B3B0A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fixed · viewport coordinate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6D8BF5-2B6E-43CA-B8E7-4EAD926AE745}"/>
              </a:ext>
            </a:extLst>
          </p:cNvPr>
          <p:cNvSpPr>
            <a:spLocks noGrp="1"/>
          </p:cNvSpPr>
          <p:nvPr/>
        </p:nvSpPr>
        <p:spPr>
          <a:xfrm>
            <a:off x="4038600" y="1257300"/>
            <a:ext cx="7620000" cy="49720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0100" y="1333500"/>
            <a:ext cx="6505383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76123D4C-1AB1-45F1-9AE0-F8B8543547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FD3A2704-F9AE-4083-AE6A-563988DF530F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545F87CB-0417-438A-A478-1B0D9664C9BB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FA8C191C-F46F-4CBD-9182-BADFBD0E5F65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F7E59726-E9C9-4699-90FA-1E647FF657C5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5CAE4358-EEAC-4148-9013-F37DD02D18CC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8AA961B0-731E-42A0-BC80-EBCA87AC04FB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1A075D9A-3A8F-40CD-98E0-D9950558EC03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C75A8C8F-C749-4718-8F13-4D5D215C9B6D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44AEDDA7-6414-4B8F-AEE6-0E545DC97404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2F46209E-9D98-40B7-82E0-BC1904475F86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23605BE9-DB6B-46C2-A519-1F3BAF909F73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7274F7B5-FDC8-48AA-A13E-A03EDCC96A90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1A0A4E88-7B03-40A2-8870-323AF3A404EA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B3BC40B6-5FA8-49D4-89CD-AFEB35EA9770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5C29280F-B995-4BC7-B7A9-EF3A0E1922FF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A67F1138-8480-475D-A54A-2597BC4E3469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7AFF46A1-7583-4B64-B45A-FF446F5A9F9A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7BC6FBD8-37AE-4221-A7AB-CEC4CCFF6631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3-marker">
            <a:extLst>
              <a:ext uri="{FF2B5EF4-FFF2-40B4-BE49-F238E27FC236}">
                <a16:creationId xmlns:a16="http://schemas.microsoft.com/office/drawing/2014/main" id="{6AC7EC8E-1352-43B9-AB73-270B7FA41020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3-label">
            <a:extLst>
              <a:ext uri="{FF2B5EF4-FFF2-40B4-BE49-F238E27FC236}">
                <a16:creationId xmlns:a16="http://schemas.microsoft.com/office/drawing/2014/main" id="{8E8711ED-45C3-4406-B270-D6916D2241C6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03.ARCHITECTURE</a:t>
            </a:r>
          </a:p>
        </p:txBody>
      </p:sp>
      <p:sp>
        <p:nvSpPr>
          <p:cNvPr id="22" name="slide-3-title">
            <a:extLst>
              <a:ext uri="{FF2B5EF4-FFF2-40B4-BE49-F238E27FC236}">
                <a16:creationId xmlns:a16="http://schemas.microsoft.com/office/drawing/2014/main" id="{8EA053EF-F3C0-4693-85DB-9BBE34EFA333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三层结构决定：你能安全改什么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14A27E70-A580-427C-82B6-9B1E810B57B5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B5DE96FA-E99B-4BE3-9E4E-CED2055E3A0B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A8FE1504-C8D1-4351-938C-39FD2153FE87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DF079C-C69C-49A7-BD97-32336A56487A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3219450" cy="31432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7F8685D-19B3-49F7-BC28-5B61B8400A59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21945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19C3A8B-14EB-4D00-9C31-5DADC575113A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THEME.JSON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DB6651-A0A8-4935-B0F3-24A1F44E2212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800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安全设计令牌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93093E-29F9-4161-9DA1-65A430AE49E3}"/>
              </a:ext>
            </a:extLst>
          </p:cNvPr>
          <p:cNvSpPr>
            <a:spLocks noGrp="1"/>
          </p:cNvSpPr>
          <p:nvPr/>
        </p:nvSpPr>
        <p:spPr>
          <a:xfrm>
            <a:off x="933450" y="2800350"/>
            <a:ext cx="2571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颜色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线宽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圆角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效果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B3A9F0A-E880-4AB4-9A3C-BC35A072269C}"/>
              </a:ext>
            </a:extLst>
          </p:cNvPr>
          <p:cNvSpPr>
            <a:spLocks noGrp="1"/>
          </p:cNvSpPr>
          <p:nvPr/>
        </p:nvSpPr>
        <p:spPr>
          <a:xfrm>
            <a:off x="4362450" y="1581150"/>
            <a:ext cx="3219450" cy="31432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ACFBDB-E516-4320-9D9A-090D5B7F29C4}"/>
              </a:ext>
            </a:extLst>
          </p:cNvPr>
          <p:cNvSpPr>
            <a:spLocks noGrp="1"/>
          </p:cNvSpPr>
          <p:nvPr/>
        </p:nvSpPr>
        <p:spPr>
          <a:xfrm>
            <a:off x="4362450" y="1943100"/>
            <a:ext cx="321945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10938B-AFEE-41B2-8299-E02BF5695378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TACTICAL CSS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2E090BD-1AE1-48DC-B3BF-DCC7F201B5B9}"/>
              </a:ext>
            </a:extLst>
          </p:cNvPr>
          <p:cNvSpPr>
            <a:spLocks noGrp="1"/>
          </p:cNvSpPr>
          <p:nvPr/>
        </p:nvSpPr>
        <p:spPr>
          <a:xfrm>
            <a:off x="4572000" y="2152650"/>
            <a:ext cx="2800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布局与视觉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D229F7-5B60-4C8F-85DD-E7A9C756DDD0}"/>
              </a:ext>
            </a:extLst>
          </p:cNvPr>
          <p:cNvSpPr>
            <a:spLocks noGrp="1"/>
          </p:cNvSpPr>
          <p:nvPr/>
        </p:nvSpPr>
        <p:spPr>
          <a:xfrm>
            <a:off x="4686300" y="2800350"/>
            <a:ext cx="2571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间距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框线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Flex / Position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伪元素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E36AF7B-45AF-4F5E-A71D-CDB444EFF587}"/>
              </a:ext>
            </a:extLst>
          </p:cNvPr>
          <p:cNvSpPr>
            <a:spLocks noGrp="1"/>
          </p:cNvSpPr>
          <p:nvPr/>
        </p:nvSpPr>
        <p:spPr>
          <a:xfrm>
            <a:off x="8115300" y="1581150"/>
            <a:ext cx="3219450" cy="31432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BD923DC-50A1-493A-B42F-6C2DA69B965B}"/>
              </a:ext>
            </a:extLst>
          </p:cNvPr>
          <p:cNvSpPr>
            <a:spLocks noGrp="1"/>
          </p:cNvSpPr>
          <p:nvPr/>
        </p:nvSpPr>
        <p:spPr>
          <a:xfrm>
            <a:off x="8115300" y="1943100"/>
            <a:ext cx="321945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6F92C86-85E5-4393-B38E-57172F76073E}"/>
              </a:ext>
            </a:extLst>
          </p:cNvPr>
          <p:cNvSpPr>
            <a:spLocks noGrp="1"/>
          </p:cNvSpPr>
          <p:nvPr/>
        </p:nvSpPr>
        <p:spPr>
          <a:xfrm>
            <a:off x="8248650" y="16573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RENDERER JS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C05E41B-7900-4963-AEB8-9AD67CBC2479}"/>
              </a:ext>
            </a:extLst>
          </p:cNvPr>
          <p:cNvSpPr>
            <a:spLocks noGrp="1"/>
          </p:cNvSpPr>
          <p:nvPr/>
        </p:nvSpPr>
        <p:spPr>
          <a:xfrm>
            <a:off x="8324850" y="2152650"/>
            <a:ext cx="2800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DOM 与交互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D74B5A-5743-47F7-89F3-03EF1423025A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2571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语义类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运行时尺寸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拖动</a:t>
            </a:r>
          </a:p>
          <a:p>
            <a:pPr algn="ctr">
              <a:def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滚轮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9439826-96B3-4E4B-92A8-45CE64063ECB}"/>
              </a:ext>
            </a:extLst>
          </p:cNvPr>
          <p:cNvSpPr>
            <a:spLocks noGrp="1"/>
          </p:cNvSpPr>
          <p:nvPr/>
        </p:nvSpPr>
        <p:spPr>
          <a:xfrm>
            <a:off x="3848100" y="3162300"/>
            <a:ext cx="3048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810AB13-4F36-499A-9541-E292F6AC7122}"/>
              </a:ext>
            </a:extLst>
          </p:cNvPr>
          <p:cNvSpPr>
            <a:spLocks noGrp="1"/>
          </p:cNvSpPr>
          <p:nvPr/>
        </p:nvSpPr>
        <p:spPr>
          <a:xfrm>
            <a:off x="4095750" y="30194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34ABF8C-8D4D-424F-BF9E-18079D7C8C22}"/>
              </a:ext>
            </a:extLst>
          </p:cNvPr>
          <p:cNvSpPr>
            <a:spLocks noGrp="1"/>
          </p:cNvSpPr>
          <p:nvPr/>
        </p:nvSpPr>
        <p:spPr>
          <a:xfrm>
            <a:off x="7600950" y="3162300"/>
            <a:ext cx="3048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17D35AC-468D-4C04-89FD-25398EB6F22F}"/>
              </a:ext>
            </a:extLst>
          </p:cNvPr>
          <p:cNvSpPr>
            <a:spLocks noGrp="1"/>
          </p:cNvSpPr>
          <p:nvPr/>
        </p:nvSpPr>
        <p:spPr>
          <a:xfrm>
            <a:off x="7848600" y="30194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A68F3A2-8A52-4CE0-AB0F-E7C92C4F8659}"/>
              </a:ext>
            </a:extLst>
          </p:cNvPr>
          <p:cNvSpPr>
            <a:spLocks noGrp="1"/>
          </p:cNvSpPr>
          <p:nvPr/>
        </p:nvSpPr>
        <p:spPr>
          <a:xfrm>
            <a:off x="1524000" y="5219700"/>
            <a:ext cx="9144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rPr>
              <a:t>视觉问题优先向左解决；只有行为问题才越过 CSS 边界。</a:t>
            </a:r>
          </a:p>
        </p:txBody>
      </p:sp>
    </p:spTree>
    <p:extLst>
      <p:ext uri="{BB962C8B-B14F-4D97-AF65-F5344CB8AC3E}">
        <p14:creationId xmlns:p14="http://schemas.microsoft.com/office/powerpoint/2010/main" val="203333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ckground">
            <a:extLst>
              <a:ext uri="{FF2B5EF4-FFF2-40B4-BE49-F238E27FC236}">
                <a16:creationId xmlns:a16="http://schemas.microsoft.com/office/drawing/2014/main" id="{75060B7E-B706-4A00-A02C-970B4B88AD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0606A8DA-E861-4C23-A871-CB2B36A847D0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35AB8043-DAA3-40BE-A872-34AAF2C1FA3F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7EA42D90-79D1-40B1-9BF8-946208D6497E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24C7F284-56D6-4F5D-B8B6-765FB5BB884C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A1FF66C1-7052-4685-BD11-137D5CEBC1A2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7C46C5C6-759F-4274-AF10-43AD33E8615D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5886E5B9-B216-4210-954A-DD06FAECAD2E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ACF269E4-E452-430A-B032-1F073BEFFB51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85861DF3-AF5C-46AF-87DB-F7120F540B9A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5B6BB380-FC54-4B87-ADB3-AAD67B10E8BD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3E074296-24F1-48A7-B04A-A6EAF24242CF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224784DA-3358-4D62-8F7F-7DAC66065C50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1785854E-BF6A-4F15-ACD9-5B1FF59BDBAB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0E4C98ED-94A1-423A-B31E-EC65A8C6736A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42EE6DDF-499B-4C6A-BD2B-47B673D6E6DC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A5FA6395-A48D-4B15-B3CC-95D76E612D1B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B123B8B9-8346-4D96-A53E-9EC573FE8A20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9053031C-BA06-4BE8-9F8A-3211764E44D9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4-marker">
            <a:extLst>
              <a:ext uri="{FF2B5EF4-FFF2-40B4-BE49-F238E27FC236}">
                <a16:creationId xmlns:a16="http://schemas.microsoft.com/office/drawing/2014/main" id="{2510AFC6-8DB4-4E36-A022-93B1E3522129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4-label">
            <a:extLst>
              <a:ext uri="{FF2B5EF4-FFF2-40B4-BE49-F238E27FC236}">
                <a16:creationId xmlns:a16="http://schemas.microsoft.com/office/drawing/2014/main" id="{9585F6DF-1F6F-4418-9203-A4E153C68439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04.SAFE_LOOP</a:t>
            </a:r>
          </a:p>
        </p:txBody>
      </p:sp>
      <p:sp>
        <p:nvSpPr>
          <p:cNvPr id="22" name="slide-4-title">
            <a:extLst>
              <a:ext uri="{FF2B5EF4-FFF2-40B4-BE49-F238E27FC236}">
                <a16:creationId xmlns:a16="http://schemas.microsoft.com/office/drawing/2014/main" id="{5937ADC9-43E4-45FF-9DBC-274B54CEDEA2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五步循环，让每次实验都可逆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EE567C24-19EA-4479-B413-70DB232F9AE0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CFA23E77-BBB3-4598-B4FE-49CE04EEBE27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0D077667-8F33-4B03-901D-B038AE26160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09AE5B-322D-4F81-9A65-96042983844B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1809750" cy="18097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755277C-17C6-4E03-9EC0-285C339F5BE3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005C315-F467-4979-83C6-9DA5F75522A1}"/>
              </a:ext>
            </a:extLst>
          </p:cNvPr>
          <p:cNvSpPr>
            <a:spLocks noGrp="1"/>
          </p:cNvSpPr>
          <p:nvPr/>
        </p:nvSpPr>
        <p:spPr>
          <a:xfrm>
            <a:off x="628650" y="26289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观察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B975A62-3D74-4892-9211-756602023381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DevTools / 截图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FD1163-3BE8-4862-A23A-679BA66F51FB}"/>
              </a:ext>
            </a:extLst>
          </p:cNvPr>
          <p:cNvSpPr>
            <a:spLocks noGrp="1"/>
          </p:cNvSpPr>
          <p:nvPr/>
        </p:nvSpPr>
        <p:spPr>
          <a:xfrm>
            <a:off x="2305050" y="2886075"/>
            <a:ext cx="2476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59C94EF-0DE2-4A5B-AEEA-923C3331DFD2}"/>
              </a:ext>
            </a:extLst>
          </p:cNvPr>
          <p:cNvSpPr>
            <a:spLocks noGrp="1"/>
          </p:cNvSpPr>
          <p:nvPr/>
        </p:nvSpPr>
        <p:spPr>
          <a:xfrm>
            <a:off x="2495550" y="27432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0C8764-E1A3-47F3-A6CC-7EF91ED43ED5}"/>
              </a:ext>
            </a:extLst>
          </p:cNvPr>
          <p:cNvSpPr>
            <a:spLocks noGrp="1"/>
          </p:cNvSpPr>
          <p:nvPr/>
        </p:nvSpPr>
        <p:spPr>
          <a:xfrm>
            <a:off x="2762250" y="1981200"/>
            <a:ext cx="1809750" cy="18097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4EADF3-51D6-4BC0-BEE2-CD4DAF2D7E4D}"/>
              </a:ext>
            </a:extLst>
          </p:cNvPr>
          <p:cNvSpPr>
            <a:spLocks noGrp="1"/>
          </p:cNvSpPr>
          <p:nvPr/>
        </p:nvSpPr>
        <p:spPr>
          <a:xfrm>
            <a:off x="2933700" y="213360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81A3BF0-52FA-4869-B5DA-06E1F653B38F}"/>
              </a:ext>
            </a:extLst>
          </p:cNvPr>
          <p:cNvSpPr>
            <a:spLocks noGrp="1"/>
          </p:cNvSpPr>
          <p:nvPr/>
        </p:nvSpPr>
        <p:spPr>
          <a:xfrm>
            <a:off x="2933700" y="26289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定位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CE5251E-0B3B-4F77-AAFF-81A947BBC569}"/>
              </a:ext>
            </a:extLst>
          </p:cNvPr>
          <p:cNvSpPr>
            <a:spLocks noGrp="1"/>
          </p:cNvSpPr>
          <p:nvPr/>
        </p:nvSpPr>
        <p:spPr>
          <a:xfrm>
            <a:off x="2914650" y="32194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变量 / 选择器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39FF8F-825B-45F2-B42D-BA76BDE77274}"/>
              </a:ext>
            </a:extLst>
          </p:cNvPr>
          <p:cNvSpPr>
            <a:spLocks noGrp="1"/>
          </p:cNvSpPr>
          <p:nvPr/>
        </p:nvSpPr>
        <p:spPr>
          <a:xfrm>
            <a:off x="4610100" y="2886075"/>
            <a:ext cx="2476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5B42E7-47F6-433D-8450-931AB6B2FF86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47DC02F-6985-456D-B966-19B28D78E26A}"/>
              </a:ext>
            </a:extLst>
          </p:cNvPr>
          <p:cNvSpPr>
            <a:spLocks noGrp="1"/>
          </p:cNvSpPr>
          <p:nvPr/>
        </p:nvSpPr>
        <p:spPr>
          <a:xfrm>
            <a:off x="5067300" y="1981200"/>
            <a:ext cx="1809750" cy="18097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B0B8BC0-219A-4AEE-AED5-7FFE8EB1D489}"/>
              </a:ext>
            </a:extLst>
          </p:cNvPr>
          <p:cNvSpPr>
            <a:spLocks noGrp="1"/>
          </p:cNvSpPr>
          <p:nvPr/>
        </p:nvSpPr>
        <p:spPr>
          <a:xfrm>
            <a:off x="5238750" y="213360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DCA3C2A-B4A1-492C-AD37-FB9D322A92A0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修改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336333F-6B78-46F6-B4BE-60ECD4DCD202}"/>
              </a:ext>
            </a:extLst>
          </p:cNvPr>
          <p:cNvSpPr>
            <a:spLocks noGrp="1"/>
          </p:cNvSpPr>
          <p:nvPr/>
        </p:nvSpPr>
        <p:spPr>
          <a:xfrm>
            <a:off x="5219700" y="32194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一次只改一件事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1485BCA-1FD6-4DC2-B7FE-2A2CB9287288}"/>
              </a:ext>
            </a:extLst>
          </p:cNvPr>
          <p:cNvSpPr>
            <a:spLocks noGrp="1"/>
          </p:cNvSpPr>
          <p:nvPr/>
        </p:nvSpPr>
        <p:spPr>
          <a:xfrm>
            <a:off x="6915150" y="2886075"/>
            <a:ext cx="2476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22AEF87-49A7-4583-86B1-C251EE7F8444}"/>
              </a:ext>
            </a:extLst>
          </p:cNvPr>
          <p:cNvSpPr>
            <a:spLocks noGrp="1"/>
          </p:cNvSpPr>
          <p:nvPr/>
        </p:nvSpPr>
        <p:spPr>
          <a:xfrm>
            <a:off x="7105650" y="27432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1D0ABE8-7415-4636-8EDD-4976CCDA4972}"/>
              </a:ext>
            </a:extLst>
          </p:cNvPr>
          <p:cNvSpPr>
            <a:spLocks noGrp="1"/>
          </p:cNvSpPr>
          <p:nvPr/>
        </p:nvSpPr>
        <p:spPr>
          <a:xfrm>
            <a:off x="7372350" y="1981200"/>
            <a:ext cx="1809750" cy="1809750"/>
          </a:xfrm>
          <a:prstGeom prst="rect">
            <a:avLst/>
          </a:prstGeom>
          <a:solidFill>
            <a:srgbClr val="080403"/>
          </a:solidFill>
          <a:ln w="19050">
            <a:solidFill>
              <a:srgbClr val="49B81F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4AB1B1-69F0-420A-AD47-517A7FD9AB5F}"/>
              </a:ext>
            </a:extLst>
          </p:cNvPr>
          <p:cNvSpPr>
            <a:spLocks noGrp="1"/>
          </p:cNvSpPr>
          <p:nvPr/>
        </p:nvSpPr>
        <p:spPr>
          <a:xfrm>
            <a:off x="7543800" y="213360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F14B560-632D-4953-9969-2B2D2AABC48E}"/>
              </a:ext>
            </a:extLst>
          </p:cNvPr>
          <p:cNvSpPr>
            <a:spLocks noGrp="1"/>
          </p:cNvSpPr>
          <p:nvPr/>
        </p:nvSpPr>
        <p:spPr>
          <a:xfrm>
            <a:off x="7543800" y="26289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注入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ABAA9B-BC72-4729-9914-435700C801DD}"/>
              </a:ext>
            </a:extLst>
          </p:cNvPr>
          <p:cNvSpPr>
            <a:spLocks noGrp="1"/>
          </p:cNvSpPr>
          <p:nvPr/>
        </p:nvSpPr>
        <p:spPr>
          <a:xfrm>
            <a:off x="7524750" y="32194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injector --once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6490E82-362C-4BF5-8415-E0C29882BA32}"/>
              </a:ext>
            </a:extLst>
          </p:cNvPr>
          <p:cNvSpPr>
            <a:spLocks noGrp="1"/>
          </p:cNvSpPr>
          <p:nvPr/>
        </p:nvSpPr>
        <p:spPr>
          <a:xfrm>
            <a:off x="9220200" y="2886075"/>
            <a:ext cx="2476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B381D3C-7F29-4361-80FF-22A5994E67FF}"/>
              </a:ext>
            </a:extLst>
          </p:cNvPr>
          <p:cNvSpPr>
            <a:spLocks noGrp="1"/>
          </p:cNvSpPr>
          <p:nvPr/>
        </p:nvSpPr>
        <p:spPr>
          <a:xfrm>
            <a:off x="9410700" y="274320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635C8C2-AD59-4005-B45D-947A57FBBC87}"/>
              </a:ext>
            </a:extLst>
          </p:cNvPr>
          <p:cNvSpPr>
            <a:spLocks noGrp="1"/>
          </p:cNvSpPr>
          <p:nvPr/>
        </p:nvSpPr>
        <p:spPr>
          <a:xfrm>
            <a:off x="9677400" y="1981200"/>
            <a:ext cx="1809750" cy="18097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FDD6B55-876B-4C66-A33A-03F403AA4FEA}"/>
              </a:ext>
            </a:extLst>
          </p:cNvPr>
          <p:cNvSpPr>
            <a:spLocks noGrp="1"/>
          </p:cNvSpPr>
          <p:nvPr/>
        </p:nvSpPr>
        <p:spPr>
          <a:xfrm>
            <a:off x="9848850" y="2133600"/>
            <a:ext cx="514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ED718DF-13F0-4B63-959A-53650A28A33D}"/>
              </a:ext>
            </a:extLst>
          </p:cNvPr>
          <p:cNvSpPr>
            <a:spLocks noGrp="1"/>
          </p:cNvSpPr>
          <p:nvPr/>
        </p:nvSpPr>
        <p:spPr>
          <a:xfrm>
            <a:off x="9848850" y="2628900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验证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F76793-E05A-44EA-8165-68E8D76212E2}"/>
              </a:ext>
            </a:extLst>
          </p:cNvPr>
          <p:cNvSpPr>
            <a:spLocks noGrp="1"/>
          </p:cNvSpPr>
          <p:nvPr/>
        </p:nvSpPr>
        <p:spPr>
          <a:xfrm>
            <a:off x="9829800" y="321945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宽窗 / 窄窗 / 交互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DF6E8FF-7E38-43E3-BC36-0CB8A19C2D32}"/>
              </a:ext>
            </a:extLst>
          </p:cNvPr>
          <p:cNvSpPr>
            <a:spLocks noGrp="1"/>
          </p:cNvSpPr>
          <p:nvPr/>
        </p:nvSpPr>
        <p:spPr>
          <a:xfrm>
            <a:off x="1733550" y="4324350"/>
            <a:ext cx="8724900" cy="10287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DDDFA6A-A4D4-429E-B617-B3B3ECE52B93}"/>
              </a:ext>
            </a:extLst>
          </p:cNvPr>
          <p:cNvSpPr>
            <a:spLocks noGrp="1"/>
          </p:cNvSpPr>
          <p:nvPr/>
        </p:nvSpPr>
        <p:spPr>
          <a:xfrm>
            <a:off x="1847850" y="4381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REVERSIBLE WORKFLOW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AFC9DEC-0769-4A04-91D3-95D58D9ED5FB}"/>
              </a:ext>
            </a:extLst>
          </p:cNvPr>
          <p:cNvSpPr>
            <a:spLocks noGrp="1"/>
          </p:cNvSpPr>
          <p:nvPr/>
        </p:nvSpPr>
        <p:spPr>
          <a:xfrm>
            <a:off x="1819275" y="4562475"/>
            <a:ext cx="8553450" cy="247650"/>
          </a:xfrm>
          <a:prstGeom prst="rect">
            <a:avLst/>
          </a:prstGeom>
          <a:solidFill>
            <a:srgbClr val="120804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F1E85EE-B62E-4ACE-8561-ED7858AB6F80}"/>
              </a:ext>
            </a:extLst>
          </p:cNvPr>
          <p:cNvSpPr>
            <a:spLocks noGrp="1"/>
          </p:cNvSpPr>
          <p:nvPr/>
        </p:nvSpPr>
        <p:spPr>
          <a:xfrm>
            <a:off x="1885950" y="4581525"/>
            <a:ext cx="842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git diff -- .\assets\presets\preset-codex-tactical-crt.css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7F7BE16-CD4B-4AD4-AD63-CE3FD796EAC2}"/>
              </a:ext>
            </a:extLst>
          </p:cNvPr>
          <p:cNvSpPr>
            <a:spLocks noGrp="1"/>
          </p:cNvSpPr>
          <p:nvPr/>
        </p:nvSpPr>
        <p:spPr>
          <a:xfrm>
            <a:off x="1885950" y="4848225"/>
            <a:ext cx="842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node .\scripts\injector.mjs --once ...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66FA311-36B2-4D79-BE72-A90BBA2E4969}"/>
              </a:ext>
            </a:extLst>
          </p:cNvPr>
          <p:cNvSpPr>
            <a:spLocks noGrp="1"/>
          </p:cNvSpPr>
          <p:nvPr/>
        </p:nvSpPr>
        <p:spPr>
          <a:xfrm>
            <a:off x="1885950" y="5114925"/>
            <a:ext cx="842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.\scripts\verify-dream-skin.ps1 -Port 9335</a:t>
            </a:r>
          </a:p>
        </p:txBody>
      </p:sp>
    </p:spTree>
    <p:extLst>
      <p:ext uri="{BB962C8B-B14F-4D97-AF65-F5344CB8AC3E}">
        <p14:creationId xmlns:p14="http://schemas.microsoft.com/office/powerpoint/2010/main" val="186347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8810B46B-EA1D-42F5-9950-2388EC58FD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DB28D357-0538-44C9-9EC9-A170DB20AD97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24FAAA52-8E6B-45C6-B515-77FA907C15E8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BA9DFF1E-B3D2-4C57-B641-60FEA5ED1A11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B75DC380-DAE0-4DE7-83B9-9D5E50ABD1DA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DF95E9AD-AB8B-40C1-B97A-52710AEC4ED7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2D452828-CD71-40D4-9B5A-F206EAFFF3BA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D3D1DC51-F7D2-4AAF-AE07-28B628BA0C13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AFAF9F15-DF9F-4C02-B4FF-BDA5D6F92839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91D1E73F-2D52-4C09-A2D8-3D2312633DA8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8D4A89EA-E8D0-41D2-BD5B-6802A7730870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778B750A-6A35-4E98-AF33-A4B56DD89364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B298D734-E0FE-4061-AEC7-410720DC3690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D94A3DBD-BCDB-452A-B630-A00E9958DA02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06A07D89-C4B8-4F4E-A4B6-CA71ABA83B0A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85C76487-F13B-4AFC-8166-C247DFF880F2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4B8340C4-E09C-4420-815A-C399F3DCFEC9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026C2F4F-EE0D-487A-A7D6-D5CC698925C7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DAFF80D4-EB27-4511-9ACC-ADDDFCF04528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5-marker">
            <a:extLst>
              <a:ext uri="{FF2B5EF4-FFF2-40B4-BE49-F238E27FC236}">
                <a16:creationId xmlns:a16="http://schemas.microsoft.com/office/drawing/2014/main" id="{2B53C80D-5072-4565-B53A-283312B01002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5-label">
            <a:extLst>
              <a:ext uri="{FF2B5EF4-FFF2-40B4-BE49-F238E27FC236}">
                <a16:creationId xmlns:a16="http://schemas.microsoft.com/office/drawing/2014/main" id="{00E22682-0B91-4FFC-9E22-0ED8AF39E898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05.RULE_ANATOMY</a:t>
            </a:r>
          </a:p>
        </p:txBody>
      </p:sp>
      <p:sp>
        <p:nvSpPr>
          <p:cNvPr id="22" name="slide-5-title">
            <a:extLst>
              <a:ext uri="{FF2B5EF4-FFF2-40B4-BE49-F238E27FC236}">
                <a16:creationId xmlns:a16="http://schemas.microsoft.com/office/drawing/2014/main" id="{2E2EAADE-B2A1-41CC-B445-DDD44061FF64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每条 CSS 规则只回答两个问题：谁，以及怎样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DE01EB14-12F6-455A-807D-5ECFF6649531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9868DEEB-5359-442A-BF11-33DE2CE1CED9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C3696BE5-5D3E-49CD-A48A-8C8CA87AFE4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2F3A964-1777-4A89-8B49-48ED7855CE41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6515100" cy="26289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BAFED6-EE96-44EF-A464-19C6BC288189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SELECTOR + DECLARATIONS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BFFF8D-31BE-4261-9E70-AD4AEF0406E5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621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.dream-sidebar-navigation-body {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57FCC8-2319-45B9-B57E-6478AB0B0521}"/>
              </a:ext>
            </a:extLst>
          </p:cNvPr>
          <p:cNvSpPr>
            <a:spLocks noGrp="1"/>
          </p:cNvSpPr>
          <p:nvPr/>
        </p:nvSpPr>
        <p:spPr>
          <a:xfrm>
            <a:off x="619125" y="2219325"/>
            <a:ext cx="6343650" cy="381000"/>
          </a:xfrm>
          <a:prstGeom prst="rect">
            <a:avLst/>
          </a:prstGeom>
          <a:solidFill>
            <a:srgbClr val="120804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E04718E-E2EF-4D08-8CBA-6C4074CF573A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621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dirty="0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  box-sizing: border-box;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6A5962-D114-4382-80D5-C6D904E75288}"/>
              </a:ext>
            </a:extLst>
          </p:cNvPr>
          <p:cNvSpPr>
            <a:spLocks noGrp="1"/>
          </p:cNvSpPr>
          <p:nvPr/>
        </p:nvSpPr>
        <p:spPr>
          <a:xfrm>
            <a:off x="619125" y="2619375"/>
            <a:ext cx="6343650" cy="381000"/>
          </a:xfrm>
          <a:prstGeom prst="rect">
            <a:avLst/>
          </a:prstGeom>
          <a:solidFill>
            <a:srgbClr val="120804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974E3A5-5CCF-4B32-877B-D0D02A19F8F9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621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dirty="0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  position: sticky;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00EF3A-C8A3-41E0-9950-260ABF651861}"/>
              </a:ext>
            </a:extLst>
          </p:cNvPr>
          <p:cNvSpPr>
            <a:spLocks noGrp="1"/>
          </p:cNvSpPr>
          <p:nvPr/>
        </p:nvSpPr>
        <p:spPr>
          <a:xfrm>
            <a:off x="619125" y="3019425"/>
            <a:ext cx="6343650" cy="381000"/>
          </a:xfrm>
          <a:prstGeom prst="rect">
            <a:avLst/>
          </a:prstGeom>
          <a:solidFill>
            <a:srgbClr val="120804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C0BFDD0-48A4-48E2-BCC5-FFFA4B94A022}"/>
              </a:ext>
            </a:extLst>
          </p:cNvPr>
          <p:cNvSpPr>
            <a:spLocks noGrp="1"/>
          </p:cNvSpPr>
          <p:nvPr/>
        </p:nvSpPr>
        <p:spPr>
          <a:xfrm>
            <a:off x="685800" y="3038475"/>
            <a:ext cx="621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dirty="0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  width: 100%;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686AB88-3EB3-43F3-B4CE-19B8A003BAFF}"/>
              </a:ext>
            </a:extLst>
          </p:cNvPr>
          <p:cNvSpPr>
            <a:spLocks noGrp="1"/>
          </p:cNvSpPr>
          <p:nvPr/>
        </p:nvSpPr>
        <p:spPr>
          <a:xfrm>
            <a:off x="619125" y="3419475"/>
            <a:ext cx="6343650" cy="381000"/>
          </a:xfrm>
          <a:prstGeom prst="rect">
            <a:avLst/>
          </a:prstGeom>
          <a:solidFill>
            <a:srgbClr val="120804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8D04945-3433-4A28-BBEC-197C2F6F5F03}"/>
              </a:ext>
            </a:extLst>
          </p:cNvPr>
          <p:cNvSpPr>
            <a:spLocks noGrp="1"/>
          </p:cNvSpPr>
          <p:nvPr/>
        </p:nvSpPr>
        <p:spPr>
          <a:xfrm>
            <a:off x="685800" y="3438525"/>
            <a:ext cx="621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 dirty="0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  border-top: none !important;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42157A8-F855-43BC-B51E-B686E9F94983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6210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DF9C78D-A95C-4F96-BD11-E4693B23835B}"/>
              </a:ext>
            </a:extLst>
          </p:cNvPr>
          <p:cNvSpPr>
            <a:spLocks noGrp="1"/>
          </p:cNvSpPr>
          <p:nvPr/>
        </p:nvSpPr>
        <p:spPr>
          <a:xfrm>
            <a:off x="7486650" y="1790700"/>
            <a:ext cx="2095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66B2A61-B920-4DD1-AFE8-5A0519834A86}"/>
              </a:ext>
            </a:extLst>
          </p:cNvPr>
          <p:cNvSpPr>
            <a:spLocks noGrp="1"/>
          </p:cNvSpPr>
          <p:nvPr/>
        </p:nvSpPr>
        <p:spPr>
          <a:xfrm>
            <a:off x="7829550" y="15811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选择器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EAD99C-5F62-4C32-AA50-02BC13D4DC8E}"/>
              </a:ext>
            </a:extLst>
          </p:cNvPr>
          <p:cNvSpPr>
            <a:spLocks noGrp="1"/>
          </p:cNvSpPr>
          <p:nvPr/>
        </p:nvSpPr>
        <p:spPr>
          <a:xfrm>
            <a:off x="7829550" y="1905000"/>
            <a:ext cx="342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命中 01 的内容区域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D04D2D8-0379-4BB9-9F34-C3B02047E485}"/>
              </a:ext>
            </a:extLst>
          </p:cNvPr>
          <p:cNvSpPr>
            <a:spLocks noGrp="1"/>
          </p:cNvSpPr>
          <p:nvPr/>
        </p:nvSpPr>
        <p:spPr>
          <a:xfrm>
            <a:off x="7486650" y="2800350"/>
            <a:ext cx="209550" cy="28575"/>
          </a:xfrm>
          <a:prstGeom prst="rect">
            <a:avLst/>
          </a:prstGeom>
          <a:solidFill>
            <a:srgbClr val="E6D7B0"/>
          </a:solidFill>
          <a:ln w="0">
            <a:solidFill>
              <a:srgbClr val="E6D7B0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73E18FE-F6DC-4EA9-BDE4-A91054682F95}"/>
              </a:ext>
            </a:extLst>
          </p:cNvPr>
          <p:cNvSpPr>
            <a:spLocks noGrp="1"/>
          </p:cNvSpPr>
          <p:nvPr/>
        </p:nvSpPr>
        <p:spPr>
          <a:xfrm>
            <a:off x="7829550" y="25908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属性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EFD014B-B329-4162-A0CA-083AC0F40A92}"/>
              </a:ext>
            </a:extLst>
          </p:cNvPr>
          <p:cNvSpPr>
            <a:spLocks noGrp="1"/>
          </p:cNvSpPr>
          <p:nvPr/>
        </p:nvSpPr>
        <p:spPr>
          <a:xfrm>
            <a:off x="7829550" y="2914650"/>
            <a:ext cx="342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 dirty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box-sizing / position / width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5316AC1-E776-4DAC-891C-8DEFD256A0C1}"/>
              </a:ext>
            </a:extLst>
          </p:cNvPr>
          <p:cNvSpPr>
            <a:spLocks noGrp="1"/>
          </p:cNvSpPr>
          <p:nvPr/>
        </p:nvSpPr>
        <p:spPr>
          <a:xfrm>
            <a:off x="7486650" y="3810000"/>
            <a:ext cx="209550" cy="28575"/>
          </a:xfrm>
          <a:prstGeom prst="rect">
            <a:avLst/>
          </a:prstGeom>
          <a:solidFill>
            <a:srgbClr val="B8A477"/>
          </a:solidFill>
          <a:ln w="0">
            <a:solidFill>
              <a:srgbClr val="B8A477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6D14530-64C3-4225-B769-A009FB3909D2}"/>
              </a:ext>
            </a:extLst>
          </p:cNvPr>
          <p:cNvSpPr>
            <a:spLocks noGrp="1"/>
          </p:cNvSpPr>
          <p:nvPr/>
        </p:nvSpPr>
        <p:spPr>
          <a:xfrm>
            <a:off x="7829550" y="360045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值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F2F1C12-1D8C-45C7-884A-4AFC63EE55C0}"/>
              </a:ext>
            </a:extLst>
          </p:cNvPr>
          <p:cNvSpPr>
            <a:spLocks noGrp="1"/>
          </p:cNvSpPr>
          <p:nvPr/>
        </p:nvSpPr>
        <p:spPr>
          <a:xfrm>
            <a:off x="7829550" y="3924300"/>
            <a:ext cx="342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border-box / sticky / 100%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4693AE-FE3E-4DB6-8AD3-7DADDB4886BA}"/>
              </a:ext>
            </a:extLst>
          </p:cNvPr>
          <p:cNvSpPr>
            <a:spLocks noGrp="1"/>
          </p:cNvSpPr>
          <p:nvPr/>
        </p:nvSpPr>
        <p:spPr>
          <a:xfrm>
            <a:off x="7486650" y="4819650"/>
            <a:ext cx="209550" cy="2857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6238E0A-CFFE-47F9-AEDB-4094053568CF}"/>
              </a:ext>
            </a:extLst>
          </p:cNvPr>
          <p:cNvSpPr>
            <a:spLocks noGrp="1"/>
          </p:cNvSpPr>
          <p:nvPr/>
        </p:nvSpPr>
        <p:spPr>
          <a:xfrm>
            <a:off x="7829550" y="4610100"/>
            <a:ext cx="161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优先权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FB7A44F-67EB-4F12-81D9-864D7902A1AE}"/>
              </a:ext>
            </a:extLst>
          </p:cNvPr>
          <p:cNvSpPr>
            <a:spLocks noGrp="1"/>
          </p:cNvSpPr>
          <p:nvPr/>
        </p:nvSpPr>
        <p:spPr>
          <a:xfrm>
            <a:off x="7829550" y="4933950"/>
            <a:ext cx="342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!important 对抗原生样式</a:t>
            </a:r>
          </a:p>
        </p:txBody>
      </p:sp>
    </p:spTree>
    <p:extLst>
      <p:ext uri="{BB962C8B-B14F-4D97-AF65-F5344CB8AC3E}">
        <p14:creationId xmlns:p14="http://schemas.microsoft.com/office/powerpoint/2010/main" val="101814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background">
            <a:extLst>
              <a:ext uri="{FF2B5EF4-FFF2-40B4-BE49-F238E27FC236}">
                <a16:creationId xmlns:a16="http://schemas.microsoft.com/office/drawing/2014/main" id="{4EE387A8-A90E-469D-8A27-CE40CE2DA0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2DD0C4C8-0BE7-448C-B08C-00ACF7186D45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2D457BF1-20D6-4C86-B191-E27A03E6018F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D6675F36-787F-49E6-9834-BD17E865653F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769B48A2-696D-432B-A69F-5E6F987F20D3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C7885569-520C-4964-B998-14BAB204B154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BBB9D74F-CEA6-41E1-B4ED-3E8C9D4585E3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9345D6B4-0219-4215-8AD9-101301F2D419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62993FF3-DEA7-4EF8-A619-E2B950B3E323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6508A441-56AA-4EE1-8D66-4BABC08D36CC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705F1688-C8F8-44C9-BDD1-C2347B95AC5D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976A3F97-45EA-4074-B594-00F7B5DD039D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F3993111-ADE9-4C4D-A11B-D598E6492F75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1334EF35-FFC5-4035-8BCD-9623EA6F8A6E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9CD75786-CC6C-4E5D-9941-5CDD53958068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1782AC3C-E167-41F7-8E78-4972BBD92394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0134AE6B-E88B-4E69-BCC9-C13A676357A9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C165D8CA-3582-4E30-9132-D29E1AE1AA10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6EE27D7B-9249-40D2-90E1-3548F93F17A6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6-marker">
            <a:extLst>
              <a:ext uri="{FF2B5EF4-FFF2-40B4-BE49-F238E27FC236}">
                <a16:creationId xmlns:a16="http://schemas.microsoft.com/office/drawing/2014/main" id="{29410840-4B0B-42B6-8730-3D2A4A43A796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6-label">
            <a:extLst>
              <a:ext uri="{FF2B5EF4-FFF2-40B4-BE49-F238E27FC236}">
                <a16:creationId xmlns:a16="http://schemas.microsoft.com/office/drawing/2014/main" id="{99423214-5EC8-4B8B-BD60-57252B5257DB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06.SELECTOR_GRAMMAR</a:t>
            </a:r>
          </a:p>
        </p:txBody>
      </p:sp>
      <p:sp>
        <p:nvSpPr>
          <p:cNvPr id="22" name="slide-6-title">
            <a:extLst>
              <a:ext uri="{FF2B5EF4-FFF2-40B4-BE49-F238E27FC236}">
                <a16:creationId xmlns:a16="http://schemas.microsoft.com/office/drawing/2014/main" id="{6964C7E3-0CE3-4DA8-9AD1-F94F26AAE1BC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复杂选择器要从右向左读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BBA894A2-6DF5-4A6B-BC07-0BE09BC18259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002F2368-1221-42ED-8B71-19FBBF881228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A992B540-3646-4194-9229-95A348FBC172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45B1FC-1694-400F-BF99-AF932E46B6EC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:root.codex-dream-skin.dream-theme-dark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F2E2758-C25D-41A7-8D73-2764CB4806A9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742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[data-dream-theme-id="preset-codex-tactical-crt"]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133E20-01D9-47C0-BD7A-92265D109199}"/>
              </a:ext>
            </a:extLst>
          </p:cNvPr>
          <p:cNvSpPr>
            <a:spLocks noGrp="1"/>
          </p:cNvSpPr>
          <p:nvPr/>
        </p:nvSpPr>
        <p:spPr>
          <a:xfrm>
            <a:off x="628650" y="2076450"/>
            <a:ext cx="666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.dream-sidebar-navigation-body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F34107B-8D0B-41A8-8656-C3054CA7F96E}"/>
              </a:ext>
            </a:extLst>
          </p:cNvPr>
          <p:cNvSpPr>
            <a:spLocks noGrp="1"/>
          </p:cNvSpPr>
          <p:nvPr/>
        </p:nvSpPr>
        <p:spPr>
          <a:xfrm>
            <a:off x="7429500" y="2781300"/>
            <a:ext cx="30670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85E354-7EB8-4128-B1B1-6A80D3A6371C}"/>
              </a:ext>
            </a:extLst>
          </p:cNvPr>
          <p:cNvSpPr>
            <a:spLocks noGrp="1"/>
          </p:cNvSpPr>
          <p:nvPr/>
        </p:nvSpPr>
        <p:spPr>
          <a:xfrm>
            <a:off x="10439400" y="26384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3DF96B-B102-4FF4-BD23-7D91D489CDA5}"/>
              </a:ext>
            </a:extLst>
          </p:cNvPr>
          <p:cNvSpPr>
            <a:spLocks noGrp="1"/>
          </p:cNvSpPr>
          <p:nvPr/>
        </p:nvSpPr>
        <p:spPr>
          <a:xfrm>
            <a:off x="7429500" y="2457450"/>
            <a:ext cx="2895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先找目标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CC8528-E6FA-4EAC-9EAC-E754FBBCF9AE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3162300" cy="8763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DCF526-688F-471A-BFF8-4B3D54BCA172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.class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68F5FF-7A4B-4A29-AD43-356127F79E4A}"/>
              </a:ext>
            </a:extLst>
          </p:cNvPr>
          <p:cNvSpPr>
            <a:spLocks noGrp="1"/>
          </p:cNvSpPr>
          <p:nvPr/>
        </p:nvSpPr>
        <p:spPr>
          <a:xfrm>
            <a:off x="2247900" y="322897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类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B1F3CEC-4D83-4EFF-9893-C595A80E2A13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身份 / 范围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339EC0-7EB1-458E-B2A4-B1CE9B8BBEB4}"/>
              </a:ext>
            </a:extLst>
          </p:cNvPr>
          <p:cNvSpPr>
            <a:spLocks noGrp="1"/>
          </p:cNvSpPr>
          <p:nvPr/>
        </p:nvSpPr>
        <p:spPr>
          <a:xfrm>
            <a:off x="4248150" y="3105150"/>
            <a:ext cx="3162300" cy="8763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A579753-ED5C-4265-BB2A-277A63991A7E}"/>
              </a:ext>
            </a:extLst>
          </p:cNvPr>
          <p:cNvSpPr>
            <a:spLocks noGrp="1"/>
          </p:cNvSpPr>
          <p:nvPr/>
        </p:nvSpPr>
        <p:spPr>
          <a:xfrm>
            <a:off x="4419600" y="321945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#id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22FD8E7-F062-408A-8255-1A17D2861E44}"/>
              </a:ext>
            </a:extLst>
          </p:cNvPr>
          <p:cNvSpPr>
            <a:spLocks noGrp="1"/>
          </p:cNvSpPr>
          <p:nvPr/>
        </p:nvSpPr>
        <p:spPr>
          <a:xfrm>
            <a:off x="5867400" y="322897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唯一 ID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DE76A62-7985-42AA-9CF7-B6004B68448B}"/>
              </a:ext>
            </a:extLst>
          </p:cNvPr>
          <p:cNvSpPr>
            <a:spLocks noGrp="1"/>
          </p:cNvSpPr>
          <p:nvPr/>
        </p:nvSpPr>
        <p:spPr>
          <a:xfrm>
            <a:off x="4419600" y="36004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身份 / 范围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7A74B72-B37E-4F86-A52C-6B9E16926FBD}"/>
              </a:ext>
            </a:extLst>
          </p:cNvPr>
          <p:cNvSpPr>
            <a:spLocks noGrp="1"/>
          </p:cNvSpPr>
          <p:nvPr/>
        </p:nvSpPr>
        <p:spPr>
          <a:xfrm>
            <a:off x="7867650" y="3105150"/>
            <a:ext cx="3162300" cy="8763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0F36C47-1E2E-4A4C-81D3-71EA5CCC03CA}"/>
              </a:ext>
            </a:extLst>
          </p:cNvPr>
          <p:cNvSpPr>
            <a:spLocks noGrp="1"/>
          </p:cNvSpPr>
          <p:nvPr/>
        </p:nvSpPr>
        <p:spPr>
          <a:xfrm>
            <a:off x="8039100" y="321945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[x="y"]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4C327C9-F601-49BA-ADDF-E3E955ED9F52}"/>
              </a:ext>
            </a:extLst>
          </p:cNvPr>
          <p:cNvSpPr>
            <a:spLocks noGrp="1"/>
          </p:cNvSpPr>
          <p:nvPr/>
        </p:nvSpPr>
        <p:spPr>
          <a:xfrm>
            <a:off x="9486900" y="322897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属性相等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AA3CA77-5153-4D38-883F-742E2CB44EEE}"/>
              </a:ext>
            </a:extLst>
          </p:cNvPr>
          <p:cNvSpPr>
            <a:spLocks noGrp="1"/>
          </p:cNvSpPr>
          <p:nvPr/>
        </p:nvSpPr>
        <p:spPr>
          <a:xfrm>
            <a:off x="8039100" y="36004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身份 / 范围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5E8B537-8CE5-4A39-9651-94FEEB92FCFE}"/>
              </a:ext>
            </a:extLst>
          </p:cNvPr>
          <p:cNvSpPr>
            <a:spLocks noGrp="1"/>
          </p:cNvSpPr>
          <p:nvPr/>
        </p:nvSpPr>
        <p:spPr>
          <a:xfrm>
            <a:off x="628650" y="4305300"/>
            <a:ext cx="3162300" cy="876300"/>
          </a:xfrm>
          <a:prstGeom prst="rect">
            <a:avLst/>
          </a:prstGeom>
          <a:solidFill>
            <a:srgbClr val="080403"/>
          </a:solidFill>
          <a:ln w="9525">
            <a:solidFill>
              <a:srgbClr val="153D0F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5D6E4BB-8392-4482-8472-8DF4D3D31EEA}"/>
              </a:ext>
            </a:extLst>
          </p:cNvPr>
          <p:cNvSpPr>
            <a:spLocks noGrp="1"/>
          </p:cNvSpPr>
          <p:nvPr/>
        </p:nvSpPr>
        <p:spPr>
          <a:xfrm>
            <a:off x="800100" y="44196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&gt;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A2FACE5-18B7-43EB-86EF-621AE021F393}"/>
              </a:ext>
            </a:extLst>
          </p:cNvPr>
          <p:cNvSpPr>
            <a:spLocks noGrp="1"/>
          </p:cNvSpPr>
          <p:nvPr/>
        </p:nvSpPr>
        <p:spPr>
          <a:xfrm>
            <a:off x="2247900" y="442912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直接子元素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C159D04-4832-4FD9-AC5E-304291E993CB}"/>
              </a:ext>
            </a:extLst>
          </p:cNvPr>
          <p:cNvSpPr>
            <a:spLocks noGrp="1"/>
          </p:cNvSpPr>
          <p:nvPr/>
        </p:nvSpPr>
        <p:spPr>
          <a:xfrm>
            <a:off x="800100" y="480060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状态 / 结构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4A78939-E81E-4A4F-9DB8-5106D64E2FCE}"/>
              </a:ext>
            </a:extLst>
          </p:cNvPr>
          <p:cNvSpPr>
            <a:spLocks noGrp="1"/>
          </p:cNvSpPr>
          <p:nvPr/>
        </p:nvSpPr>
        <p:spPr>
          <a:xfrm>
            <a:off x="4248150" y="4305300"/>
            <a:ext cx="3162300" cy="876300"/>
          </a:xfrm>
          <a:prstGeom prst="rect">
            <a:avLst/>
          </a:prstGeom>
          <a:solidFill>
            <a:srgbClr val="080403"/>
          </a:solidFill>
          <a:ln w="9525">
            <a:solidFill>
              <a:srgbClr val="153D0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3FE926A-0128-4A0B-B00C-5B1F6321DDA3}"/>
              </a:ext>
            </a:extLst>
          </p:cNvPr>
          <p:cNvSpPr>
            <a:spLocks noGrp="1"/>
          </p:cNvSpPr>
          <p:nvPr/>
        </p:nvSpPr>
        <p:spPr>
          <a:xfrm>
            <a:off x="4419600" y="44196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空格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AF7018C-898A-476A-B8F4-62173FE433A0}"/>
              </a:ext>
            </a:extLst>
          </p:cNvPr>
          <p:cNvSpPr>
            <a:spLocks noGrp="1"/>
          </p:cNvSpPr>
          <p:nvPr/>
        </p:nvSpPr>
        <p:spPr>
          <a:xfrm>
            <a:off x="5867400" y="442912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任意后代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DA22A14-F109-4E8F-AA31-073286DC77DF}"/>
              </a:ext>
            </a:extLst>
          </p:cNvPr>
          <p:cNvSpPr>
            <a:spLocks noGrp="1"/>
          </p:cNvSpPr>
          <p:nvPr/>
        </p:nvSpPr>
        <p:spPr>
          <a:xfrm>
            <a:off x="4419600" y="480060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状态 / 结构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B0E478D-15CD-4303-BAAD-B8E9FC8893B6}"/>
              </a:ext>
            </a:extLst>
          </p:cNvPr>
          <p:cNvSpPr>
            <a:spLocks noGrp="1"/>
          </p:cNvSpPr>
          <p:nvPr/>
        </p:nvSpPr>
        <p:spPr>
          <a:xfrm>
            <a:off x="7867650" y="4305300"/>
            <a:ext cx="3162300" cy="876300"/>
          </a:xfrm>
          <a:prstGeom prst="rect">
            <a:avLst/>
          </a:prstGeom>
          <a:solidFill>
            <a:srgbClr val="080403"/>
          </a:solidFill>
          <a:ln w="9525">
            <a:solidFill>
              <a:srgbClr val="153D0F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742BDE7-0E32-4876-B0A7-5C7CC51031F0}"/>
              </a:ext>
            </a:extLst>
          </p:cNvPr>
          <p:cNvSpPr>
            <a:spLocks noGrp="1"/>
          </p:cNvSpPr>
          <p:nvPr/>
        </p:nvSpPr>
        <p:spPr>
          <a:xfrm>
            <a:off x="8039100" y="44196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::before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4E72EBF-294A-49E2-94B4-C94469D20697}"/>
              </a:ext>
            </a:extLst>
          </p:cNvPr>
          <p:cNvSpPr>
            <a:spLocks noGrp="1"/>
          </p:cNvSpPr>
          <p:nvPr/>
        </p:nvSpPr>
        <p:spPr>
          <a:xfrm>
            <a:off x="9486900" y="442912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伪元素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99CEE48-BB1E-431D-93C5-4AEE7A29446D}"/>
              </a:ext>
            </a:extLst>
          </p:cNvPr>
          <p:cNvSpPr>
            <a:spLocks noGrp="1"/>
          </p:cNvSpPr>
          <p:nvPr/>
        </p:nvSpPr>
        <p:spPr>
          <a:xfrm>
            <a:off x="8039100" y="480060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状态 / 结构</a:t>
            </a:r>
          </a:p>
        </p:txBody>
      </p:sp>
    </p:spTree>
    <p:extLst>
      <p:ext uri="{BB962C8B-B14F-4D97-AF65-F5344CB8AC3E}">
        <p14:creationId xmlns:p14="http://schemas.microsoft.com/office/powerpoint/2010/main" val="150041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background">
            <a:extLst>
              <a:ext uri="{FF2B5EF4-FFF2-40B4-BE49-F238E27FC236}">
                <a16:creationId xmlns:a16="http://schemas.microsoft.com/office/drawing/2014/main" id="{4CCF035A-24A4-499A-8EC8-27F1D727CC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4788963A-994B-4D9D-B178-4E9D9527A7AF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450590B4-D346-4AC9-9450-6F358E770746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DBE8E144-F6DC-45BA-B431-818D74EADD62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D70D6CD9-2EBD-4A3C-A64B-592848EBC52B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D50456B7-3876-4815-B1ED-9AAFEF0C01AA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CD893300-5AB9-477B-AD02-5B7AC68F92F2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83FFB17B-E6F3-4825-A9E7-4F899D227569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697E8391-0904-4430-8E91-B0FC1B94EDE4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3E64B06B-D89D-4ECD-9A7A-780CABB01C85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2033CC26-06C8-4C32-BE98-A784107EFCB0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F49FC1A3-52B6-48BA-A047-4F4D07A12E5D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50185080-B99B-404C-8B19-3DBAF5AA5085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1B6C8738-3EAB-4967-BBDD-425AC4D7BF78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0C3B97D8-4FA8-4D40-9742-86C63B800EFC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FE1EFEA8-28A0-49D2-9978-8331B255AEE4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1B05520D-AC06-463C-97F6-4A0357203B98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4B3D8B0D-CAC2-4A13-9667-D853EE37F481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3589BB5F-C0F6-47AB-8896-256828477390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7-marker">
            <a:extLst>
              <a:ext uri="{FF2B5EF4-FFF2-40B4-BE49-F238E27FC236}">
                <a16:creationId xmlns:a16="http://schemas.microsoft.com/office/drawing/2014/main" id="{0E92FF6D-5C8D-40BC-999D-ACD1FA65E3EF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7-label">
            <a:extLst>
              <a:ext uri="{FF2B5EF4-FFF2-40B4-BE49-F238E27FC236}">
                <a16:creationId xmlns:a16="http://schemas.microsoft.com/office/drawing/2014/main" id="{EDA280BB-1366-418D-A81D-B2216A319E59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07.CASCADE</a:t>
            </a:r>
          </a:p>
        </p:txBody>
      </p:sp>
      <p:sp>
        <p:nvSpPr>
          <p:cNvPr id="22" name="slide-7-title">
            <a:extLst>
              <a:ext uri="{FF2B5EF4-FFF2-40B4-BE49-F238E27FC236}">
                <a16:creationId xmlns:a16="http://schemas.microsoft.com/office/drawing/2014/main" id="{0BAFF33A-0EF1-43F8-9706-3141B913A1E8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最终赢家由层叠、优先级、顺序共同决定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1F7A215F-ACC9-4465-B418-57AAB81F9D88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AF6B9D38-EE99-489A-8256-AB3EBAD84AF3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04DD1118-00E1-49F5-9F7D-977983768BC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D9EB16-1229-4C1C-85ED-20BE93E4D745}"/>
              </a:ext>
            </a:extLst>
          </p:cNvPr>
          <p:cNvSpPr>
            <a:spLocks noGrp="1"/>
          </p:cNvSpPr>
          <p:nvPr/>
        </p:nvSpPr>
        <p:spPr>
          <a:xfrm>
            <a:off x="666750" y="1466850"/>
            <a:ext cx="6858000" cy="685800"/>
          </a:xfrm>
          <a:prstGeom prst="rect">
            <a:avLst/>
          </a:prstGeom>
          <a:solidFill>
            <a:srgbClr val="080403"/>
          </a:solidFill>
          <a:ln w="19050">
            <a:solidFill>
              <a:srgbClr val="D95B5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12BB5F-1ED3-4A4C-B821-7C5163913375}"/>
              </a:ext>
            </a:extLst>
          </p:cNvPr>
          <p:cNvSpPr>
            <a:spLocks noGrp="1"/>
          </p:cNvSpPr>
          <p:nvPr/>
        </p:nvSpPr>
        <p:spPr>
          <a:xfrm>
            <a:off x="800100" y="1638300"/>
            <a:ext cx="47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95B52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95B52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CEF388-2B28-471F-9771-BF8FDDD9AC70}"/>
              </a:ext>
            </a:extLst>
          </p:cNvPr>
          <p:cNvSpPr>
            <a:spLocks noGrp="1"/>
          </p:cNvSpPr>
          <p:nvPr/>
        </p:nvSpPr>
        <p:spPr>
          <a:xfrm>
            <a:off x="1352550" y="1590675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 dirty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inline style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703950-D500-483A-9EB8-27740C0D8544}"/>
              </a:ext>
            </a:extLst>
          </p:cNvPr>
          <p:cNvSpPr>
            <a:spLocks noGrp="1"/>
          </p:cNvSpPr>
          <p:nvPr/>
        </p:nvSpPr>
        <p:spPr>
          <a:xfrm>
            <a:off x="4076700" y="1628775"/>
            <a:ext cx="3276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最强，但不建议在主题中使用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FF1C5C-9488-45B1-9656-476D9C140898}"/>
              </a:ext>
            </a:extLst>
          </p:cNvPr>
          <p:cNvSpPr>
            <a:spLocks noGrp="1"/>
          </p:cNvSpPr>
          <p:nvPr/>
        </p:nvSpPr>
        <p:spPr>
          <a:xfrm>
            <a:off x="1095375" y="2419350"/>
            <a:ext cx="6000750" cy="685800"/>
          </a:xfrm>
          <a:prstGeom prst="rect">
            <a:avLst/>
          </a:prstGeom>
          <a:solidFill>
            <a:srgbClr val="080403"/>
          </a:solidFill>
          <a:ln w="19050">
            <a:solidFill>
              <a:srgbClr val="D7AD5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970D1CC-C1DA-4C6D-A27A-B9198A81E3FC}"/>
              </a:ext>
            </a:extLst>
          </p:cNvPr>
          <p:cNvSpPr>
            <a:spLocks noGrp="1"/>
          </p:cNvSpPr>
          <p:nvPr/>
        </p:nvSpPr>
        <p:spPr>
          <a:xfrm>
            <a:off x="1228725" y="2590800"/>
            <a:ext cx="47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CB54ACD-5031-4B8F-978F-33BC4F85EDC0}"/>
              </a:ext>
            </a:extLst>
          </p:cNvPr>
          <p:cNvSpPr>
            <a:spLocks noGrp="1"/>
          </p:cNvSpPr>
          <p:nvPr/>
        </p:nvSpPr>
        <p:spPr>
          <a:xfrm>
            <a:off x="1781175" y="2543175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 dirty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#id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F2B54FF-20D5-4543-BD25-C1BAF2047AB8}"/>
              </a:ext>
            </a:extLst>
          </p:cNvPr>
          <p:cNvSpPr>
            <a:spLocks noGrp="1"/>
          </p:cNvSpPr>
          <p:nvPr/>
        </p:nvSpPr>
        <p:spPr>
          <a:xfrm>
            <a:off x="4505325" y="2581275"/>
            <a:ext cx="2419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唯一目标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9A7CDBE-582B-45DB-BFD6-BD7B0F47457E}"/>
              </a:ext>
            </a:extLst>
          </p:cNvPr>
          <p:cNvSpPr>
            <a:spLocks noGrp="1"/>
          </p:cNvSpPr>
          <p:nvPr/>
        </p:nvSpPr>
        <p:spPr>
          <a:xfrm>
            <a:off x="1524000" y="3371850"/>
            <a:ext cx="5143500" cy="685800"/>
          </a:xfrm>
          <a:prstGeom prst="rect">
            <a:avLst/>
          </a:prstGeom>
          <a:solidFill>
            <a:srgbClr val="080403"/>
          </a:solidFill>
          <a:ln w="19050">
            <a:solidFill>
              <a:srgbClr val="49B81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8513DDF-BF7C-47DD-835E-E171361415E0}"/>
              </a:ext>
            </a:extLst>
          </p:cNvPr>
          <p:cNvSpPr>
            <a:spLocks noGrp="1"/>
          </p:cNvSpPr>
          <p:nvPr/>
        </p:nvSpPr>
        <p:spPr>
          <a:xfrm>
            <a:off x="1657350" y="3543300"/>
            <a:ext cx="47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B1360A-55CC-42B4-9201-064535EF0AB4}"/>
              </a:ext>
            </a:extLst>
          </p:cNvPr>
          <p:cNvSpPr>
            <a:spLocks noGrp="1"/>
          </p:cNvSpPr>
          <p:nvPr/>
        </p:nvSpPr>
        <p:spPr>
          <a:xfrm>
            <a:off x="2209800" y="3495675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 dirty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.class / [</a:t>
            </a:r>
            <a:r>
              <a:rPr sz="1575" b="1" dirty="0" err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attr</a:t>
            </a:r>
            <a:r>
              <a:rPr sz="1575" b="1" dirty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] / :hover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87CCBD8-8BF9-4519-89E6-DA8F2BFD69DD}"/>
              </a:ext>
            </a:extLst>
          </p:cNvPr>
          <p:cNvSpPr>
            <a:spLocks noGrp="1"/>
          </p:cNvSpPr>
          <p:nvPr/>
        </p:nvSpPr>
        <p:spPr>
          <a:xfrm>
            <a:off x="4933950" y="3533775"/>
            <a:ext cx="1562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项目最常用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D6B26B6-DF89-4BE4-9140-75724BA110F5}"/>
              </a:ext>
            </a:extLst>
          </p:cNvPr>
          <p:cNvSpPr>
            <a:spLocks noGrp="1"/>
          </p:cNvSpPr>
          <p:nvPr/>
        </p:nvSpPr>
        <p:spPr>
          <a:xfrm>
            <a:off x="1952625" y="4324350"/>
            <a:ext cx="4286250" cy="685800"/>
          </a:xfrm>
          <a:prstGeom prst="rect">
            <a:avLst/>
          </a:prstGeom>
          <a:solidFill>
            <a:srgbClr val="080403"/>
          </a:solidFill>
          <a:ln w="19050">
            <a:solidFill>
              <a:srgbClr val="B8A477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27419A-8AA1-4C21-8701-46BBA48670CE}"/>
              </a:ext>
            </a:extLst>
          </p:cNvPr>
          <p:cNvSpPr>
            <a:spLocks noGrp="1"/>
          </p:cNvSpPr>
          <p:nvPr/>
        </p:nvSpPr>
        <p:spPr>
          <a:xfrm>
            <a:off x="2085975" y="4495800"/>
            <a:ext cx="47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4B694F1-F294-4CAB-9804-98BB7B0453C6}"/>
              </a:ext>
            </a:extLst>
          </p:cNvPr>
          <p:cNvSpPr>
            <a:spLocks noGrp="1"/>
          </p:cNvSpPr>
          <p:nvPr/>
        </p:nvSpPr>
        <p:spPr>
          <a:xfrm>
            <a:off x="2638425" y="4448175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1" dirty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tag / ::before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45BB4E8-0874-47BB-A63F-B3617B7F36B0}"/>
              </a:ext>
            </a:extLst>
          </p:cNvPr>
          <p:cNvSpPr>
            <a:spLocks noGrp="1"/>
          </p:cNvSpPr>
          <p:nvPr/>
        </p:nvSpPr>
        <p:spPr>
          <a:xfrm>
            <a:off x="5362575" y="4486275"/>
            <a:ext cx="704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基础元素与装饰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E2731DD-D89A-4CB1-BFC8-5E795CF72111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295650" cy="3371850"/>
          </a:xfrm>
          <a:prstGeom prst="rect">
            <a:avLst/>
          </a:prstGeom>
          <a:solidFill>
            <a:srgbClr val="080403"/>
          </a:solidFill>
          <a:ln w="9525">
            <a:solidFill>
              <a:srgbClr val="C3741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49471F-3C06-4940-9B11-45FDA486D404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3295650" cy="9525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158D156-2B78-421F-B565-4CA7FA796A30}"/>
              </a:ext>
            </a:extLst>
          </p:cNvPr>
          <p:cNvSpPr>
            <a:spLocks noGrp="1"/>
          </p:cNvSpPr>
          <p:nvPr/>
        </p:nvSpPr>
        <p:spPr>
          <a:xfrm>
            <a:off x="8324850" y="16002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CONFLICT TEST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BE5E144-A14E-44D6-BD74-6449FA3C3337}"/>
              </a:ext>
            </a:extLst>
          </p:cNvPr>
          <p:cNvSpPr>
            <a:spLocks noGrp="1"/>
          </p:cNvSpPr>
          <p:nvPr/>
        </p:nvSpPr>
        <p:spPr>
          <a:xfrm>
            <a:off x="8439150" y="2152650"/>
            <a:ext cx="2781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.panel { border: 1px; }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CEB1B45-1F4B-4036-A2D6-68EDB3B50C37}"/>
              </a:ext>
            </a:extLst>
          </p:cNvPr>
          <p:cNvSpPr>
            <a:spLocks noGrp="1"/>
          </p:cNvSpPr>
          <p:nvPr/>
        </p:nvSpPr>
        <p:spPr>
          <a:xfrm>
            <a:off x="8439150" y="27432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.theme .panel {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D285E0C-7CE8-4606-ACD0-3C7D6E7A80EB}"/>
              </a:ext>
            </a:extLst>
          </p:cNvPr>
          <p:cNvSpPr>
            <a:spLocks noGrp="1"/>
          </p:cNvSpPr>
          <p:nvPr/>
        </p:nvSpPr>
        <p:spPr>
          <a:xfrm>
            <a:off x="8439150" y="310515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  border: none;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4B67CAF-DB84-4027-8F32-CB689B153A0C}"/>
              </a:ext>
            </a:extLst>
          </p:cNvPr>
          <p:cNvSpPr>
            <a:spLocks noGrp="1"/>
          </p:cNvSpPr>
          <p:nvPr/>
        </p:nvSpPr>
        <p:spPr>
          <a:xfrm>
            <a:off x="8439150" y="3467100"/>
            <a:ext cx="2781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9AC3150-B6C8-4ECB-98A2-02A4F1C5CAF9}"/>
              </a:ext>
            </a:extLst>
          </p:cNvPr>
          <p:cNvSpPr>
            <a:spLocks noGrp="1"/>
          </p:cNvSpPr>
          <p:nvPr/>
        </p:nvSpPr>
        <p:spPr>
          <a:xfrm>
            <a:off x="8439150" y="4114800"/>
            <a:ext cx="2781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第二条更具体 → 胜出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2D99A50-C768-4EDF-9E35-48C2F12C7899}"/>
              </a:ext>
            </a:extLst>
          </p:cNvPr>
          <p:cNvSpPr>
            <a:spLocks noGrp="1"/>
          </p:cNvSpPr>
          <p:nvPr/>
        </p:nvSpPr>
        <p:spPr>
          <a:xfrm>
            <a:off x="1638300" y="5524500"/>
            <a:ext cx="8915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rPr>
              <a:t>!important 会先改变比赛分组，再比较优先级。</a:t>
            </a:r>
          </a:p>
        </p:txBody>
      </p:sp>
    </p:spTree>
    <p:extLst>
      <p:ext uri="{BB962C8B-B14F-4D97-AF65-F5344CB8AC3E}">
        <p14:creationId xmlns:p14="http://schemas.microsoft.com/office/powerpoint/2010/main" val="1530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ackground">
            <a:extLst>
              <a:ext uri="{FF2B5EF4-FFF2-40B4-BE49-F238E27FC236}">
                <a16:creationId xmlns:a16="http://schemas.microsoft.com/office/drawing/2014/main" id="{EC867003-5E89-440B-8874-FE319EF37B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BB558AE5-8627-46A3-9434-444BF9273E06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E25BD79B-73FB-47BF-81F0-69C133529592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D842B990-A3C1-42E0-9E69-D58B29B1E034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61808D30-782B-4FDA-88A9-A84AAFF07575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4048FDEE-93E5-4041-AEAE-05254DDB6E0C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87E46FE7-E1ED-4E99-993B-87267A4E126E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5078C69A-2D9F-4993-AB30-CF23F937F23E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2719928C-458D-45D7-BC6F-7E24D65D7A76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42B42120-A78C-4FF5-BA1F-66A7321C7C94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3204DB23-1FA2-43CB-8516-F97ECD411282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AEF2B5CA-8D9C-4C36-B970-C5161AB8C2E4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2ACBE782-7CE7-46DD-BE09-7109FF2C85C1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10254365-B297-4817-AFDC-914583315A33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91011FB1-6D35-422C-B9DF-5612DD47C631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C1A51F5B-D621-4D40-BC40-EACAF5BA42B5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C49832C7-CE1B-4212-914F-F48DA636A264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40C50C91-A04A-4FDB-ADC7-7A49E7218737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7093AFCD-76AD-4969-9586-EE751D56C2F9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8-marker">
            <a:extLst>
              <a:ext uri="{FF2B5EF4-FFF2-40B4-BE49-F238E27FC236}">
                <a16:creationId xmlns:a16="http://schemas.microsoft.com/office/drawing/2014/main" id="{4314389D-9874-402F-8ED8-71FB2796C499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8-label">
            <a:extLst>
              <a:ext uri="{FF2B5EF4-FFF2-40B4-BE49-F238E27FC236}">
                <a16:creationId xmlns:a16="http://schemas.microsoft.com/office/drawing/2014/main" id="{37D2D9CC-D678-4917-8524-CE37DA6B8AC8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08.TOKENS</a:t>
            </a:r>
          </a:p>
        </p:txBody>
      </p:sp>
      <p:sp>
        <p:nvSpPr>
          <p:cNvPr id="22" name="slide-8-title">
            <a:extLst>
              <a:ext uri="{FF2B5EF4-FFF2-40B4-BE49-F238E27FC236}">
                <a16:creationId xmlns:a16="http://schemas.microsoft.com/office/drawing/2014/main" id="{8A011EE9-9145-4991-B78E-9786C7BDF760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变量把稳定意图与运行时几何分开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A2F259F6-99E0-42D4-B28A-DEE5BCE570B9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166F5BC5-6052-428B-AC7D-5EFBFEF05110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D8B340F6-6FD0-4031-85C2-7CECC30D90B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2ED0D9-AFCE-4935-857D-EBA2C516B4B4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3429000" cy="33528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18245DE-C62E-407B-B7F3-008853524CD1}"/>
              </a:ext>
            </a:extLst>
          </p:cNvPr>
          <p:cNvSpPr>
            <a:spLocks noGrp="1"/>
          </p:cNvSpPr>
          <p:nvPr/>
        </p:nvSpPr>
        <p:spPr>
          <a:xfrm>
            <a:off x="514350" y="1790700"/>
            <a:ext cx="342900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067DCF-2E5A-40C1-9799-E89A8882B95C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SAFE TOKENS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DC9D33-2192-479B-91E7-FFEABBF16B41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theme.json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B64A56-D9FA-41D6-8972-9488F4C030C7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28194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colors</a:t>
            </a:r>
          </a:p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strokes</a:t>
            </a:r>
          </a:p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radii</a:t>
            </a:r>
          </a:p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effects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801203-649E-4530-BAE2-15DB0E9C5BEC}"/>
              </a:ext>
            </a:extLst>
          </p:cNvPr>
          <p:cNvSpPr>
            <a:spLocks noGrp="1"/>
          </p:cNvSpPr>
          <p:nvPr/>
        </p:nvSpPr>
        <p:spPr>
          <a:xfrm>
            <a:off x="1543050" y="4248150"/>
            <a:ext cx="1371600" cy="2667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1D0E13-E894-4A77-AA9A-5A12C44E6C4F}"/>
              </a:ext>
            </a:extLst>
          </p:cNvPr>
          <p:cNvSpPr>
            <a:spLocks noGrp="1"/>
          </p:cNvSpPr>
          <p:nvPr/>
        </p:nvSpPr>
        <p:spPr>
          <a:xfrm>
            <a:off x="1543050" y="4257675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可校验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451A40-500C-44FF-9C34-92873DDA2E80}"/>
              </a:ext>
            </a:extLst>
          </p:cNvPr>
          <p:cNvSpPr>
            <a:spLocks noGrp="1"/>
          </p:cNvSpPr>
          <p:nvPr/>
        </p:nvSpPr>
        <p:spPr>
          <a:xfrm>
            <a:off x="4381500" y="1428750"/>
            <a:ext cx="3429000" cy="33528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D365FF1-780B-480A-A50F-A31D3D2BE127}"/>
              </a:ext>
            </a:extLst>
          </p:cNvPr>
          <p:cNvSpPr>
            <a:spLocks noGrp="1"/>
          </p:cNvSpPr>
          <p:nvPr/>
        </p:nvSpPr>
        <p:spPr>
          <a:xfrm>
            <a:off x="4381500" y="1790700"/>
            <a:ext cx="342900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95E919-AAC5-416C-8365-D4AC483BA2F9}"/>
              </a:ext>
            </a:extLst>
          </p:cNvPr>
          <p:cNvSpPr>
            <a:spLocks noGrp="1"/>
          </p:cNvSpPr>
          <p:nvPr/>
        </p:nvSpPr>
        <p:spPr>
          <a:xfrm>
            <a:off x="4514850" y="15049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LAYOUT TOKENS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7993988-5768-429D-9A1A-D47FC2D07E02}"/>
              </a:ext>
            </a:extLst>
          </p:cNvPr>
          <p:cNvSpPr>
            <a:spLocks noGrp="1"/>
          </p:cNvSpPr>
          <p:nvPr/>
        </p:nvSpPr>
        <p:spPr>
          <a:xfrm>
            <a:off x="4572000" y="20193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Tactical CSS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60552DD-5A1F-44A4-90D6-CB6D580D9BB1}"/>
              </a:ext>
            </a:extLst>
          </p:cNvPr>
          <p:cNvSpPr>
            <a:spLocks noGrp="1"/>
          </p:cNvSpPr>
          <p:nvPr/>
        </p:nvSpPr>
        <p:spPr>
          <a:xfrm>
            <a:off x="4686300" y="2571750"/>
            <a:ext cx="28194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panel-gap</a:t>
            </a:r>
          </a:p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title-height</a:t>
            </a:r>
          </a:p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composer-min-height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1C83F25-733B-4916-B9EA-BBEC1F16CD6D}"/>
              </a:ext>
            </a:extLst>
          </p:cNvPr>
          <p:cNvSpPr>
            <a:spLocks noGrp="1"/>
          </p:cNvSpPr>
          <p:nvPr/>
        </p:nvSpPr>
        <p:spPr>
          <a:xfrm>
            <a:off x="5410200" y="4248150"/>
            <a:ext cx="1371600" cy="2667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D849B19-5331-41CD-AF75-F9CDC732265F}"/>
              </a:ext>
            </a:extLst>
          </p:cNvPr>
          <p:cNvSpPr>
            <a:spLocks noGrp="1"/>
          </p:cNvSpPr>
          <p:nvPr/>
        </p:nvSpPr>
        <p:spPr>
          <a:xfrm>
            <a:off x="5410200" y="4257675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可手调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492C6B6-A036-46B1-9A34-4CD3485E742C}"/>
              </a:ext>
            </a:extLst>
          </p:cNvPr>
          <p:cNvSpPr>
            <a:spLocks noGrp="1"/>
          </p:cNvSpPr>
          <p:nvPr/>
        </p:nvSpPr>
        <p:spPr>
          <a:xfrm>
            <a:off x="8248650" y="1428750"/>
            <a:ext cx="3429000" cy="33528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EF1AC82-2E47-4DF7-A9C5-9C03AACFC714}"/>
              </a:ext>
            </a:extLst>
          </p:cNvPr>
          <p:cNvSpPr>
            <a:spLocks noGrp="1"/>
          </p:cNvSpPr>
          <p:nvPr/>
        </p:nvSpPr>
        <p:spPr>
          <a:xfrm>
            <a:off x="8248650" y="1790700"/>
            <a:ext cx="342900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F0A49E3-EEBE-43E9-8DD7-5C44C4CDB14B}"/>
              </a:ext>
            </a:extLst>
          </p:cNvPr>
          <p:cNvSpPr>
            <a:spLocks noGrp="1"/>
          </p:cNvSpPr>
          <p:nvPr/>
        </p:nvSpPr>
        <p:spPr>
          <a:xfrm>
            <a:off x="8382000" y="15049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RUNTIME TOKENS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5953DA9-FC55-4FE4-9D47-F8B4CDB11200}"/>
              </a:ext>
            </a:extLst>
          </p:cNvPr>
          <p:cNvSpPr>
            <a:spLocks noGrp="1"/>
          </p:cNvSpPr>
          <p:nvPr/>
        </p:nvSpPr>
        <p:spPr>
          <a:xfrm>
            <a:off x="8439150" y="20193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renderer-inject.js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87B19A4-F42B-4CD4-947B-E4E23B1D3A1D}"/>
              </a:ext>
            </a:extLst>
          </p:cNvPr>
          <p:cNvSpPr>
            <a:spLocks noGrp="1"/>
          </p:cNvSpPr>
          <p:nvPr/>
        </p:nvSpPr>
        <p:spPr>
          <a:xfrm>
            <a:off x="8553450" y="2571750"/>
            <a:ext cx="28194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scrollbar-top</a:t>
            </a:r>
          </a:p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scrollbar-height</a:t>
            </a:r>
          </a:p>
          <a:p>
            <a:pPr algn="ctr">
              <a:def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sidebar-width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E723B6D-3029-4707-861D-EB8A3C1E529A}"/>
              </a:ext>
            </a:extLst>
          </p:cNvPr>
          <p:cNvSpPr>
            <a:spLocks noGrp="1"/>
          </p:cNvSpPr>
          <p:nvPr/>
        </p:nvSpPr>
        <p:spPr>
          <a:xfrm>
            <a:off x="9277350" y="4248150"/>
            <a:ext cx="1371600" cy="2667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FDADEDF-4EC5-4C6F-A388-BD631F1454B5}"/>
              </a:ext>
            </a:extLst>
          </p:cNvPr>
          <p:cNvSpPr>
            <a:spLocks noGrp="1"/>
          </p:cNvSpPr>
          <p:nvPr/>
        </p:nvSpPr>
        <p:spPr>
          <a:xfrm>
            <a:off x="9277350" y="4257675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自动计算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896B269-3D47-4EF5-AD9A-81988C1DF11B}"/>
              </a:ext>
            </a:extLst>
          </p:cNvPr>
          <p:cNvSpPr>
            <a:spLocks noGrp="1"/>
          </p:cNvSpPr>
          <p:nvPr/>
        </p:nvSpPr>
        <p:spPr>
          <a:xfrm>
            <a:off x="3943350" y="3105150"/>
            <a:ext cx="2476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F308D04-D185-4411-80E0-628BBE7C97EB}"/>
              </a:ext>
            </a:extLst>
          </p:cNvPr>
          <p:cNvSpPr>
            <a:spLocks noGrp="1"/>
          </p:cNvSpPr>
          <p:nvPr/>
        </p:nvSpPr>
        <p:spPr>
          <a:xfrm>
            <a:off x="4133850" y="296227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7B2E06E-AFE6-4568-B04D-EADAB9506FF2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476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F726DDB-18FC-4AB0-8599-61BB4D92EB06}"/>
              </a:ext>
            </a:extLst>
          </p:cNvPr>
          <p:cNvSpPr>
            <a:spLocks noGrp="1"/>
          </p:cNvSpPr>
          <p:nvPr/>
        </p:nvSpPr>
        <p:spPr>
          <a:xfrm>
            <a:off x="8001000" y="296227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44E3C8F-57B5-4081-8DFC-717B99DB81C6}"/>
              </a:ext>
            </a:extLst>
          </p:cNvPr>
          <p:cNvSpPr>
            <a:spLocks noGrp="1"/>
          </p:cNvSpPr>
          <p:nvPr/>
        </p:nvSpPr>
        <p:spPr>
          <a:xfrm>
            <a:off x="1581150" y="5257800"/>
            <a:ext cx="902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D95B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D95B52"/>
                </a:solidFill>
                <a:latin typeface="Microsoft YaHei UI"/>
                <a:ea typeface="Microsoft YaHei UI"/>
                <a:cs typeface="Microsoft YaHei UI"/>
              </a:rPr>
              <a:t>不要把 --dream-token-runtime-* 固定死：窗口缩放后会失效。</a:t>
            </a:r>
          </a:p>
        </p:txBody>
      </p:sp>
    </p:spTree>
    <p:extLst>
      <p:ext uri="{BB962C8B-B14F-4D97-AF65-F5344CB8AC3E}">
        <p14:creationId xmlns:p14="http://schemas.microsoft.com/office/powerpoint/2010/main" val="175126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ackground">
            <a:extLst>
              <a:ext uri="{FF2B5EF4-FFF2-40B4-BE49-F238E27FC236}">
                <a16:creationId xmlns:a16="http://schemas.microsoft.com/office/drawing/2014/main" id="{B6674A54-3990-45D2-92EE-9910F2CD2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211F2C71-E9A5-4EE8-B80C-33A7BBCB4F88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9D297228-91C8-4121-B096-F687B9C61D20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159090EA-4A6A-4A79-BC96-2C8C573DAA53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CBEE5AE3-2A59-439B-9F69-B48677036004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3A1CA9AC-EC77-4359-8B98-1E21A6AC3E38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3FA9C66B-115C-40CC-9C5C-87F50CD30501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76ED2D77-2F8B-4B86-BF86-A21BFA0F7EC0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F0305D7D-D0D3-46CA-A587-03E34F70C72A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3F81F548-DD75-4A3B-B89C-66C4E8E03CF0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CDC26FE1-B254-4B0E-ACC5-80CA154B329F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3C374BD4-48C9-44E3-8234-BD8FB913D552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671005DC-7417-428C-B79D-71A5DE6475C6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B5603DB3-73F5-4B85-886C-38B8EBA232E1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BB8974FA-1F45-49EA-B3AC-682AA8FBAC0B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2122ED8D-05BC-4A7A-BF33-0BAF988F21D7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B9FA3182-1475-4FB6-AEEF-111F08D7AEF6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C851D79E-EFE1-4D63-AF90-43BB7AA1FD71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68A3651C-C29A-413C-94B8-D8E3C844D180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9-marker">
            <a:extLst>
              <a:ext uri="{FF2B5EF4-FFF2-40B4-BE49-F238E27FC236}">
                <a16:creationId xmlns:a16="http://schemas.microsoft.com/office/drawing/2014/main" id="{7670E67D-10D8-4510-BA30-7C3689E4657D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9-label">
            <a:extLst>
              <a:ext uri="{FF2B5EF4-FFF2-40B4-BE49-F238E27FC236}">
                <a16:creationId xmlns:a16="http://schemas.microsoft.com/office/drawing/2014/main" id="{6DAD10FA-31A1-4008-951D-706E219361F4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09.BOX_MODEL</a:t>
            </a:r>
          </a:p>
        </p:txBody>
      </p:sp>
      <p:sp>
        <p:nvSpPr>
          <p:cNvPr id="22" name="slide-9-title">
            <a:extLst>
              <a:ext uri="{FF2B5EF4-FFF2-40B4-BE49-F238E27FC236}">
                <a16:creationId xmlns:a16="http://schemas.microsoft.com/office/drawing/2014/main" id="{B603653C-C1E7-4EC4-97C2-CB184DCEF9D8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普通 border 改变几何；inset 阴影不会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08F90F86-1B8B-4B85-ACB0-69C23C551F4B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C501F5C6-9AE9-4495-BED9-167F1DA053B2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6AF2753B-BFCF-4466-9A08-D7776AD5D61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2701D6-65E1-4D13-9007-8290B66880C1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143500" cy="39052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C0059E-971A-4926-86D2-457F91D9F7F5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514350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DA436C-92F5-484D-8445-220787A9026A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87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OUTER BORDER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843A22D-B9DD-4F28-9DE7-AA176E0E979F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3238500" cy="1809750"/>
          </a:xfrm>
          <a:prstGeom prst="rect">
            <a:avLst/>
          </a:prstGeom>
          <a:solidFill>
            <a:srgbClr val="120804"/>
          </a:solidFill>
          <a:ln w="76200">
            <a:solidFill>
              <a:srgbClr val="D7AD5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C02876-8B41-43AD-AAF8-3D9BA6C8E9AD}"/>
              </a:ext>
            </a:extLst>
          </p:cNvPr>
          <p:cNvSpPr>
            <a:spLocks noGrp="1"/>
          </p:cNvSpPr>
          <p:nvPr/>
        </p:nvSpPr>
        <p:spPr>
          <a:xfrm>
            <a:off x="2095500" y="2857500"/>
            <a:ext cx="2286000" cy="85725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A4B422-4C1E-4DE3-A39F-0F8A2CFF29B1}"/>
              </a:ext>
            </a:extLst>
          </p:cNvPr>
          <p:cNvSpPr>
            <a:spLocks noGrp="1"/>
          </p:cNvSpPr>
          <p:nvPr/>
        </p:nvSpPr>
        <p:spPr>
          <a:xfrm>
            <a:off x="2095500" y="310515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content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26A21C-5574-422E-9473-A4B89008649E}"/>
              </a:ext>
            </a:extLst>
          </p:cNvPr>
          <p:cNvSpPr>
            <a:spLocks noGrp="1"/>
          </p:cNvSpPr>
          <p:nvPr/>
        </p:nvSpPr>
        <p:spPr>
          <a:xfrm>
            <a:off x="1276350" y="4457700"/>
            <a:ext cx="3924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占用盒模型空间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38E67C-6626-4CB7-A38B-022BE0F688BB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5143500" cy="39052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7C48CB-9AFD-4898-B1C9-5662FCD0570D}"/>
              </a:ext>
            </a:extLst>
          </p:cNvPr>
          <p:cNvSpPr>
            <a:spLocks noGrp="1"/>
          </p:cNvSpPr>
          <p:nvPr/>
        </p:nvSpPr>
        <p:spPr>
          <a:xfrm>
            <a:off x="6381750" y="1790700"/>
            <a:ext cx="514350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CB5E57-D49D-43E1-9BA9-AE79D226D037}"/>
              </a:ext>
            </a:extLst>
          </p:cNvPr>
          <p:cNvSpPr>
            <a:spLocks noGrp="1"/>
          </p:cNvSpPr>
          <p:nvPr/>
        </p:nvSpPr>
        <p:spPr>
          <a:xfrm>
            <a:off x="6515100" y="1504950"/>
            <a:ext cx="487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INSET FRAME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178B89E-C8FB-4DFD-896A-32B551A2D32A}"/>
              </a:ext>
            </a:extLst>
          </p:cNvPr>
          <p:cNvSpPr>
            <a:spLocks noGrp="1"/>
          </p:cNvSpPr>
          <p:nvPr/>
        </p:nvSpPr>
        <p:spPr>
          <a:xfrm>
            <a:off x="7334250" y="2381250"/>
            <a:ext cx="3238500" cy="1809750"/>
          </a:xfrm>
          <a:prstGeom prst="rect">
            <a:avLst/>
          </a:prstGeom>
          <a:solidFill>
            <a:srgbClr val="120804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686CE98-3688-491F-850A-923D4683DA35}"/>
              </a:ext>
            </a:extLst>
          </p:cNvPr>
          <p:cNvSpPr>
            <a:spLocks noGrp="1"/>
          </p:cNvSpPr>
          <p:nvPr/>
        </p:nvSpPr>
        <p:spPr>
          <a:xfrm>
            <a:off x="7810500" y="2857500"/>
            <a:ext cx="2286000" cy="85725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1AD76F1-48A6-4E6E-99CD-1625917D3B78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content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EFA943-0295-4048-AA24-12221FC6AF60}"/>
              </a:ext>
            </a:extLst>
          </p:cNvPr>
          <p:cNvSpPr>
            <a:spLocks noGrp="1"/>
          </p:cNvSpPr>
          <p:nvPr/>
        </p:nvSpPr>
        <p:spPr>
          <a:xfrm>
            <a:off x="6991350" y="4457700"/>
            <a:ext cx="3924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绘制在盒子内部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450576E-5570-4BE1-8DF8-C0B9F1D47A01}"/>
              </a:ext>
            </a:extLst>
          </p:cNvPr>
          <p:cNvSpPr>
            <a:spLocks noGrp="1"/>
          </p:cNvSpPr>
          <p:nvPr/>
        </p:nvSpPr>
        <p:spPr>
          <a:xfrm>
            <a:off x="1581150" y="5562600"/>
            <a:ext cx="9029700" cy="7620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6993119-CB50-43EF-BC32-6F386F342DB4}"/>
              </a:ext>
            </a:extLst>
          </p:cNvPr>
          <p:cNvSpPr>
            <a:spLocks noGrp="1"/>
          </p:cNvSpPr>
          <p:nvPr/>
        </p:nvSpPr>
        <p:spPr>
          <a:xfrm>
            <a:off x="1695450" y="56197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TWO DIFFERENT GEOMETRIES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28541A0-5F5C-4FA8-8B7E-3054F47517DF}"/>
              </a:ext>
            </a:extLst>
          </p:cNvPr>
          <p:cNvSpPr>
            <a:spLocks noGrp="1"/>
          </p:cNvSpPr>
          <p:nvPr/>
        </p:nvSpPr>
        <p:spPr>
          <a:xfrm>
            <a:off x="1733550" y="5819775"/>
            <a:ext cx="872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border-right: none !important;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D961477-1CE8-4159-B213-B998423190D2}"/>
              </a:ext>
            </a:extLst>
          </p:cNvPr>
          <p:cNvSpPr>
            <a:spLocks noGrp="1"/>
          </p:cNvSpPr>
          <p:nvPr/>
        </p:nvSpPr>
        <p:spPr>
          <a:xfrm>
            <a:off x="1733550" y="6086475"/>
            <a:ext cx="872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box-shadow: inset 0 0 0 2px var(--dream-token-color-line-strong);</a:t>
            </a:r>
          </a:p>
        </p:txBody>
      </p:sp>
    </p:spTree>
    <p:extLst>
      <p:ext uri="{BB962C8B-B14F-4D97-AF65-F5344CB8AC3E}">
        <p14:creationId xmlns:p14="http://schemas.microsoft.com/office/powerpoint/2010/main" val="1037005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background">
            <a:extLst>
              <a:ext uri="{FF2B5EF4-FFF2-40B4-BE49-F238E27FC236}">
                <a16:creationId xmlns:a16="http://schemas.microsoft.com/office/drawing/2014/main" id="{51B83BF7-92EB-4B0C-A78B-858836396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9905AF26-4759-4A74-9443-440F1F1E4C07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CF080B0C-7615-40E4-9B2A-1D792040977B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0F37A4F6-9BCC-428A-9A70-53C19E01370B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CF07C3D2-8359-48F6-A85F-5679A61EC789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C5A1B88E-B481-4893-A78F-431C6EECBA03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822D686A-840C-48AD-A25A-F7A6AEA862A3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FAAE68C7-FFCD-45E1-B355-55F256C4D7E2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C052384D-02FA-49F0-8035-3E830D2E0D29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4F1E41F2-4CE7-4591-846B-50E06A907DC5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3439FEA2-57FA-4402-87D8-ABB9F783F291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67B58BF0-6D9C-492F-B3E4-AB6813708727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04621D9F-B96F-44C5-A2D1-31A66DDD2FEC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D068329B-3040-45AA-904B-2E5F88DB6D8D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7011FC72-8672-4872-8074-9444E2FBD346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819B2741-2C39-4611-B202-BA2F8832516B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A68C93F0-F8A5-4BBF-A133-3BFCFD28256D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42DA805B-BE59-4490-9E94-A70BF75BF1FC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F0CAA2A6-E99F-498A-A015-5776403DF366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0-marker">
            <a:extLst>
              <a:ext uri="{FF2B5EF4-FFF2-40B4-BE49-F238E27FC236}">
                <a16:creationId xmlns:a16="http://schemas.microsoft.com/office/drawing/2014/main" id="{49830F96-31E2-4E84-84D6-56EFE76BCBA8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0-label">
            <a:extLst>
              <a:ext uri="{FF2B5EF4-FFF2-40B4-BE49-F238E27FC236}">
                <a16:creationId xmlns:a16="http://schemas.microsoft.com/office/drawing/2014/main" id="{85647255-F44D-403A-A35C-F7661F54D5F6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10.FLEX</a:t>
            </a:r>
          </a:p>
        </p:txBody>
      </p:sp>
      <p:sp>
        <p:nvSpPr>
          <p:cNvPr id="22" name="slide-10-title">
            <a:extLst>
              <a:ext uri="{FF2B5EF4-FFF2-40B4-BE49-F238E27FC236}">
                <a16:creationId xmlns:a16="http://schemas.microsoft.com/office/drawing/2014/main" id="{45358CCF-F965-496B-ADEE-39820B35EBDE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一个 flex: 1 1 auto，解释 Header 如何自动填满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96C4C772-74CD-4DEE-916B-7691A6346C29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FCC6F493-170D-442B-897C-EFF895C6F42A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E46987AD-069B-43FC-9E40-0B71DFAFC814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09CEAA5-AE40-4CEA-B6E6-6021B9369841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11163300" cy="2381250"/>
          </a:xfrm>
          <a:prstGeom prst="rect">
            <a:avLst/>
          </a:prstGeom>
          <a:solidFill>
            <a:srgbClr val="080403"/>
          </a:solidFill>
          <a:ln w="9525">
            <a:solidFill>
              <a:srgbClr val="C3741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E35588F-713D-4AD0-97DF-E05700420667}"/>
              </a:ext>
            </a:extLst>
          </p:cNvPr>
          <p:cNvSpPr>
            <a:spLocks noGrp="1"/>
          </p:cNvSpPr>
          <p:nvPr/>
        </p:nvSpPr>
        <p:spPr>
          <a:xfrm>
            <a:off x="514350" y="1885950"/>
            <a:ext cx="11163300" cy="9525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D1444D-1A33-45E5-B98C-8C30635770DC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10896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HEADER / 64PX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8B78731-6A51-424D-A975-0C08258E4577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571500" cy="7810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37887A-124D-40C4-A708-39AEC7852B0D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57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81B7628-3A4F-420A-BC66-40EE54448D6F}"/>
              </a:ext>
            </a:extLst>
          </p:cNvPr>
          <p:cNvSpPr>
            <a:spLocks noGrp="1"/>
          </p:cNvSpPr>
          <p:nvPr/>
        </p:nvSpPr>
        <p:spPr>
          <a:xfrm>
            <a:off x="1409700" y="2238375"/>
            <a:ext cx="571500" cy="7810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08D5431-7C9B-4E0D-8376-1BE61A727952}"/>
              </a:ext>
            </a:extLst>
          </p:cNvPr>
          <p:cNvSpPr>
            <a:spLocks noGrp="1"/>
          </p:cNvSpPr>
          <p:nvPr/>
        </p:nvSpPr>
        <p:spPr>
          <a:xfrm>
            <a:off x="1409700" y="2419350"/>
            <a:ext cx="57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90934B-EC92-4425-8BDE-67AAA52C26C0}"/>
              </a:ext>
            </a:extLst>
          </p:cNvPr>
          <p:cNvSpPr>
            <a:spLocks noGrp="1"/>
          </p:cNvSpPr>
          <p:nvPr/>
        </p:nvSpPr>
        <p:spPr>
          <a:xfrm>
            <a:off x="2095500" y="2238375"/>
            <a:ext cx="571500" cy="7810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5EE0C6B-D4CF-476A-A5D8-B7013ADBC306}"/>
              </a:ext>
            </a:extLst>
          </p:cNvPr>
          <p:cNvSpPr>
            <a:spLocks noGrp="1"/>
          </p:cNvSpPr>
          <p:nvPr/>
        </p:nvSpPr>
        <p:spPr>
          <a:xfrm>
            <a:off x="2095500" y="2419350"/>
            <a:ext cx="57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A44EA5-EC84-44DB-A330-EBC735A0D20F}"/>
              </a:ext>
            </a:extLst>
          </p:cNvPr>
          <p:cNvSpPr>
            <a:spLocks noGrp="1"/>
          </p:cNvSpPr>
          <p:nvPr/>
        </p:nvSpPr>
        <p:spPr>
          <a:xfrm>
            <a:off x="2781300" y="2238375"/>
            <a:ext cx="571500" cy="7810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46503EA-7F57-49D0-8296-7EE2F2E4F045}"/>
              </a:ext>
            </a:extLst>
          </p:cNvPr>
          <p:cNvSpPr>
            <a:spLocks noGrp="1"/>
          </p:cNvSpPr>
          <p:nvPr/>
        </p:nvSpPr>
        <p:spPr>
          <a:xfrm>
            <a:off x="2781300" y="2419350"/>
            <a:ext cx="57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844F08-5B59-49C7-9D32-FBA6B85AA9D3}"/>
              </a:ext>
            </a:extLst>
          </p:cNvPr>
          <p:cNvSpPr>
            <a:spLocks noGrp="1"/>
          </p:cNvSpPr>
          <p:nvPr/>
        </p:nvSpPr>
        <p:spPr>
          <a:xfrm>
            <a:off x="3467100" y="2238375"/>
            <a:ext cx="571500" cy="7810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C5594D3-FDEA-442C-984B-5FEF13B1196C}"/>
              </a:ext>
            </a:extLst>
          </p:cNvPr>
          <p:cNvSpPr>
            <a:spLocks noGrp="1"/>
          </p:cNvSpPr>
          <p:nvPr/>
        </p:nvSpPr>
        <p:spPr>
          <a:xfrm>
            <a:off x="3467100" y="2419350"/>
            <a:ext cx="57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89BBF9F-68CE-4A2E-A77D-D1935A35BBC9}"/>
              </a:ext>
            </a:extLst>
          </p:cNvPr>
          <p:cNvSpPr>
            <a:spLocks noGrp="1"/>
          </p:cNvSpPr>
          <p:nvPr/>
        </p:nvSpPr>
        <p:spPr>
          <a:xfrm>
            <a:off x="4171950" y="2457450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8px GAP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343271F-B2EC-4D57-A0ED-3F9A58C20D20}"/>
              </a:ext>
            </a:extLst>
          </p:cNvPr>
          <p:cNvSpPr>
            <a:spLocks noGrp="1"/>
          </p:cNvSpPr>
          <p:nvPr/>
        </p:nvSpPr>
        <p:spPr>
          <a:xfrm>
            <a:off x="5048250" y="2105025"/>
            <a:ext cx="6362700" cy="1047750"/>
          </a:xfrm>
          <a:prstGeom prst="rect">
            <a:avLst/>
          </a:prstGeom>
          <a:solidFill>
            <a:srgbClr val="D7AD55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D554E30-CC14-4446-A391-47D15356AC40}"/>
              </a:ext>
            </a:extLst>
          </p:cNvPr>
          <p:cNvSpPr>
            <a:spLocks noGrp="1"/>
          </p:cNvSpPr>
          <p:nvPr/>
        </p:nvSpPr>
        <p:spPr>
          <a:xfrm>
            <a:off x="5048250" y="2419350"/>
            <a:ext cx="6362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03020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030201"/>
                </a:solidFill>
                <a:latin typeface="Cascadia Mono"/>
                <a:ea typeface="Cascadia Mono"/>
                <a:cs typeface="Cascadia Mono"/>
              </a:rPr>
              <a:t>CODEX_TACTICAL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D059B40-443E-4625-8C35-788FB17B408B}"/>
              </a:ext>
            </a:extLst>
          </p:cNvPr>
          <p:cNvSpPr>
            <a:spLocks noGrp="1"/>
          </p:cNvSpPr>
          <p:nvPr/>
        </p:nvSpPr>
        <p:spPr>
          <a:xfrm>
            <a:off x="5181600" y="3638550"/>
            <a:ext cx="58674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33975EE-32F7-451F-AEE6-6F17291A9E58}"/>
              </a:ext>
            </a:extLst>
          </p:cNvPr>
          <p:cNvSpPr>
            <a:spLocks noGrp="1"/>
          </p:cNvSpPr>
          <p:nvPr/>
        </p:nvSpPr>
        <p:spPr>
          <a:xfrm>
            <a:off x="10991850" y="349567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9F4CA56-9E66-41CC-B36F-194898DB7D40}"/>
              </a:ext>
            </a:extLst>
          </p:cNvPr>
          <p:cNvSpPr>
            <a:spLocks noGrp="1"/>
          </p:cNvSpPr>
          <p:nvPr/>
        </p:nvSpPr>
        <p:spPr>
          <a:xfrm>
            <a:off x="5181600" y="3314700"/>
            <a:ext cx="569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剩余宽度全部分配给 flex item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501A82B-8DF4-42AE-9E50-44A1B1493673}"/>
              </a:ext>
            </a:extLst>
          </p:cNvPr>
          <p:cNvSpPr>
            <a:spLocks noGrp="1"/>
          </p:cNvSpPr>
          <p:nvPr/>
        </p:nvSpPr>
        <p:spPr>
          <a:xfrm>
            <a:off x="838200" y="4438650"/>
            <a:ext cx="3143250" cy="10668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DA37D24-BFF5-4239-9369-CCF962BA9D1A}"/>
              </a:ext>
            </a:extLst>
          </p:cNvPr>
          <p:cNvSpPr>
            <a:spLocks noGrp="1"/>
          </p:cNvSpPr>
          <p:nvPr/>
        </p:nvSpPr>
        <p:spPr>
          <a:xfrm>
            <a:off x="1009650" y="46101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flex-grow: 1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C41DA84-C9B1-4B50-A84C-3238DB8A0E2F}"/>
              </a:ext>
            </a:extLst>
          </p:cNvPr>
          <p:cNvSpPr>
            <a:spLocks noGrp="1"/>
          </p:cNvSpPr>
          <p:nvPr/>
        </p:nvSpPr>
        <p:spPr>
          <a:xfrm>
            <a:off x="1009650" y="50292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可以增长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9FB2A09-6BC1-4096-B802-77969D693703}"/>
              </a:ext>
            </a:extLst>
          </p:cNvPr>
          <p:cNvSpPr>
            <a:spLocks noGrp="1"/>
          </p:cNvSpPr>
          <p:nvPr/>
        </p:nvSpPr>
        <p:spPr>
          <a:xfrm>
            <a:off x="4552950" y="4438650"/>
            <a:ext cx="3143250" cy="10668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82D24F0-5072-466F-987D-5D40C0725DD3}"/>
              </a:ext>
            </a:extLst>
          </p:cNvPr>
          <p:cNvSpPr>
            <a:spLocks noGrp="1"/>
          </p:cNvSpPr>
          <p:nvPr/>
        </p:nvSpPr>
        <p:spPr>
          <a:xfrm>
            <a:off x="4724400" y="46101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flex-shrink: 1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ACDBADB-794B-4034-959E-9DC745797669}"/>
              </a:ext>
            </a:extLst>
          </p:cNvPr>
          <p:cNvSpPr>
            <a:spLocks noGrp="1"/>
          </p:cNvSpPr>
          <p:nvPr/>
        </p:nvSpPr>
        <p:spPr>
          <a:xfrm>
            <a:off x="4724400" y="50292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可以收缩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1020DF8-BB71-47A8-9323-6E5AEF27B1A5}"/>
              </a:ext>
            </a:extLst>
          </p:cNvPr>
          <p:cNvSpPr>
            <a:spLocks noGrp="1"/>
          </p:cNvSpPr>
          <p:nvPr/>
        </p:nvSpPr>
        <p:spPr>
          <a:xfrm>
            <a:off x="8267700" y="4438650"/>
            <a:ext cx="3143250" cy="10668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28E50A1-56C6-407F-B1FA-BE2B1641DD8F}"/>
              </a:ext>
            </a:extLst>
          </p:cNvPr>
          <p:cNvSpPr>
            <a:spLocks noGrp="1"/>
          </p:cNvSpPr>
          <p:nvPr/>
        </p:nvSpPr>
        <p:spPr>
          <a:xfrm>
            <a:off x="8439150" y="46101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flex-basis: auto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E114804-CCB3-40BC-8FB6-D0AE80D8D8AF}"/>
              </a:ext>
            </a:extLst>
          </p:cNvPr>
          <p:cNvSpPr>
            <a:spLocks noGrp="1"/>
          </p:cNvSpPr>
          <p:nvPr/>
        </p:nvSpPr>
        <p:spPr>
          <a:xfrm>
            <a:off x="8439150" y="50292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按自身尺寸起步</a:t>
            </a:r>
          </a:p>
        </p:txBody>
      </p:sp>
    </p:spTree>
    <p:extLst>
      <p:ext uri="{BB962C8B-B14F-4D97-AF65-F5344CB8AC3E}">
        <p14:creationId xmlns:p14="http://schemas.microsoft.com/office/powerpoint/2010/main" val="119505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59418985-9D91-478F-96A0-4031921319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AFF0D55B-E66C-43FD-B18A-15574897B9F2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FDFA244F-BE1E-44C4-B74A-DAB0FA722094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C7C372B4-B98E-4F14-8E50-04FB670DCB58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D408FA47-1047-4E82-8CE0-1B19DEA7716A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03EC324C-5821-4DDA-AA33-B1BD573693C7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BBD3A838-A86E-42C8-84D6-ED8A58ADB256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45D0CAF0-93BC-46FF-B845-A215FE82590E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8A37ECD0-EB3C-4655-8DC1-536B5895A135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99791D60-9F96-4ACF-9E14-70BACA87B866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F1CA3C75-22B6-4CFA-8EDF-00FE14D5CA4C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859B69EE-E98B-419D-A511-9F4880913060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974F2F2A-3249-46A6-9419-2B5E43F4DC87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461EEFE1-15C2-44C4-B231-B11B53E1EB35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75CDD3F7-A7B5-4B42-9F90-E3B56414542C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D7FF293B-B180-4BAF-8A39-F66912DA45CE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51B47232-7B94-4DA4-83CD-8C2F49904BD5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74C7444F-801B-48E5-B039-9A292318FADB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72E4FCC2-86D1-448F-A80D-80163995E538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1-marker">
            <a:extLst>
              <a:ext uri="{FF2B5EF4-FFF2-40B4-BE49-F238E27FC236}">
                <a16:creationId xmlns:a16="http://schemas.microsoft.com/office/drawing/2014/main" id="{72086DCD-F9C4-47F9-AB0F-5F096DCC7377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1-label">
            <a:extLst>
              <a:ext uri="{FF2B5EF4-FFF2-40B4-BE49-F238E27FC236}">
                <a16:creationId xmlns:a16="http://schemas.microsoft.com/office/drawing/2014/main" id="{DA985CF2-0671-40FB-919A-65EC7DD4434C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11.POSITION</a:t>
            </a:r>
          </a:p>
        </p:txBody>
      </p:sp>
      <p:sp>
        <p:nvSpPr>
          <p:cNvPr id="22" name="slide-11-title">
            <a:extLst>
              <a:ext uri="{FF2B5EF4-FFF2-40B4-BE49-F238E27FC236}">
                <a16:creationId xmlns:a16="http://schemas.microsoft.com/office/drawing/2014/main" id="{334F67BC-5C81-4890-AEC4-6DFA7F395ADF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四种定位，建立四种坐标关系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37458C6C-BAAC-48FF-B847-7CE7CF35E865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D6E61B81-6AF4-4F69-9F20-65E0BFAAC58A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58EE5989-A20C-4128-8043-D18A98FD9A0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971F05-F3F3-4E3C-AA6A-46E83E984E78}"/>
              </a:ext>
            </a:extLst>
          </p:cNvPr>
          <p:cNvSpPr>
            <a:spLocks noGrp="1"/>
          </p:cNvSpPr>
          <p:nvPr/>
        </p:nvSpPr>
        <p:spPr>
          <a:xfrm>
            <a:off x="590550" y="1390650"/>
            <a:ext cx="5295900" cy="19621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5ECE313-8319-4E53-83C0-012724969559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529590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59B414-F01D-49E1-ADEF-DB1FD637BCE8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2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RELATIVE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2DA881-CB4F-48A9-9F7C-94C7A9DE2FD1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2857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保留文档流</a:t>
            </a:r>
          </a:p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建立定位参考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2EDD279-98F8-41BD-871C-2F4C81987CF6}"/>
              </a:ext>
            </a:extLst>
          </p:cNvPr>
          <p:cNvSpPr>
            <a:spLocks noGrp="1"/>
          </p:cNvSpPr>
          <p:nvPr/>
        </p:nvSpPr>
        <p:spPr>
          <a:xfrm>
            <a:off x="3981450" y="2076450"/>
            <a:ext cx="1543050" cy="742950"/>
          </a:xfrm>
          <a:prstGeom prst="rect">
            <a:avLst/>
          </a:prstGeom>
          <a:solidFill>
            <a:srgbClr val="120804"/>
          </a:solidFill>
          <a:ln w="19050">
            <a:solidFill>
              <a:srgbClr val="D7AD5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F7C1D42-5E7C-4C7F-882E-121B4D8A0E24}"/>
              </a:ext>
            </a:extLst>
          </p:cNvPr>
          <p:cNvSpPr>
            <a:spLocks noGrp="1"/>
          </p:cNvSpPr>
          <p:nvPr/>
        </p:nvSpPr>
        <p:spPr>
          <a:xfrm>
            <a:off x="4076700" y="217170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01 外框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39F96BD-8892-4D0C-946E-4A111F536FBC}"/>
              </a:ext>
            </a:extLst>
          </p:cNvPr>
          <p:cNvSpPr>
            <a:spLocks noGrp="1"/>
          </p:cNvSpPr>
          <p:nvPr/>
        </p:nvSpPr>
        <p:spPr>
          <a:xfrm>
            <a:off x="6286500" y="1390650"/>
            <a:ext cx="5295900" cy="19621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64C1EB1-49D7-44B6-AB2F-AFB036D8AAB4}"/>
              </a:ext>
            </a:extLst>
          </p:cNvPr>
          <p:cNvSpPr>
            <a:spLocks noGrp="1"/>
          </p:cNvSpPr>
          <p:nvPr/>
        </p:nvSpPr>
        <p:spPr>
          <a:xfrm>
            <a:off x="6286500" y="1752600"/>
            <a:ext cx="529590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E247A23-6094-4548-887F-E3C8A4679B8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2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ABSOLUTE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C5ED23E-BD37-4E84-B710-AAD9F7C9AD61}"/>
              </a:ext>
            </a:extLst>
          </p:cNvPr>
          <p:cNvSpPr>
            <a:spLocks noGrp="1"/>
          </p:cNvSpPr>
          <p:nvPr/>
        </p:nvSpPr>
        <p:spPr>
          <a:xfrm>
            <a:off x="6553200" y="1981200"/>
            <a:ext cx="2857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脱离文档流</a:t>
            </a:r>
          </a:p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相对定位祖先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6C1FAA-5B61-40DE-BA5F-2B832E1EBAEF}"/>
              </a:ext>
            </a:extLst>
          </p:cNvPr>
          <p:cNvSpPr>
            <a:spLocks noGrp="1"/>
          </p:cNvSpPr>
          <p:nvPr/>
        </p:nvSpPr>
        <p:spPr>
          <a:xfrm>
            <a:off x="9677400" y="2076450"/>
            <a:ext cx="1543050" cy="742950"/>
          </a:xfrm>
          <a:prstGeom prst="rect">
            <a:avLst/>
          </a:prstGeom>
          <a:solidFill>
            <a:srgbClr val="120804"/>
          </a:solidFill>
          <a:ln w="19050">
            <a:solidFill>
              <a:srgbClr val="D7AD5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4604DF-8700-43C7-B17B-125B5BA6117C}"/>
              </a:ext>
            </a:extLst>
          </p:cNvPr>
          <p:cNvSpPr>
            <a:spLocks noGrp="1"/>
          </p:cNvSpPr>
          <p:nvPr/>
        </p:nvSpPr>
        <p:spPr>
          <a:xfrm>
            <a:off x="9772650" y="217170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模块标题 ::before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321826B-D7A0-4091-A89A-E282016C6C06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5295900" cy="19621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F78963A-6E5E-4F69-B7D4-2EA101F9AF8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529590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2F3EF38-36CC-4A60-9E8D-C1A3F3F77864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502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STICKY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3D7F77E-BE96-4D18-B108-2AB0CF1876DB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57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先参与布局</a:t>
            </a:r>
          </a:p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到阈值后吸附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2844DD9-C5CB-4568-A5C3-D1A40D2CDBEF}"/>
              </a:ext>
            </a:extLst>
          </p:cNvPr>
          <p:cNvSpPr>
            <a:spLocks noGrp="1"/>
          </p:cNvSpPr>
          <p:nvPr/>
        </p:nvSpPr>
        <p:spPr>
          <a:xfrm>
            <a:off x="3981450" y="4419600"/>
            <a:ext cx="1543050" cy="742950"/>
          </a:xfrm>
          <a:prstGeom prst="rect">
            <a:avLst/>
          </a:prstGeom>
          <a:solidFill>
            <a:srgbClr val="120804"/>
          </a:solidFill>
          <a:ln w="19050">
            <a:solidFill>
              <a:srgbClr val="49B81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B97B45D-FCCE-4123-9FCB-CBCC7CB9B178}"/>
              </a:ext>
            </a:extLst>
          </p:cNvPr>
          <p:cNvSpPr>
            <a:spLocks noGrp="1"/>
          </p:cNvSpPr>
          <p:nvPr/>
        </p:nvSpPr>
        <p:spPr>
          <a:xfrm>
            <a:off x="4076700" y="451485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02 标题 / Composer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95092F5-672C-4138-94F5-05459EB6486B}"/>
              </a:ext>
            </a:extLst>
          </p:cNvPr>
          <p:cNvSpPr>
            <a:spLocks noGrp="1"/>
          </p:cNvSpPr>
          <p:nvPr/>
        </p:nvSpPr>
        <p:spPr>
          <a:xfrm>
            <a:off x="6286500" y="3733800"/>
            <a:ext cx="5295900" cy="19621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31A69E6-076A-4B66-9100-199D110C83E5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529590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D7DEB40-104D-4BD1-8EC0-D6252957F58F}"/>
              </a:ext>
            </a:extLst>
          </p:cNvPr>
          <p:cNvSpPr>
            <a:spLocks noGrp="1"/>
          </p:cNvSpPr>
          <p:nvPr/>
        </p:nvSpPr>
        <p:spPr>
          <a:xfrm>
            <a:off x="6419850" y="3810000"/>
            <a:ext cx="502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FIXED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7FBF987-D323-4A22-85B7-69DC9B785615}"/>
              </a:ext>
            </a:extLst>
          </p:cNvPr>
          <p:cNvSpPr>
            <a:spLocks noGrp="1"/>
          </p:cNvSpPr>
          <p:nvPr/>
        </p:nvSpPr>
        <p:spPr>
          <a:xfrm>
            <a:off x="6553200" y="4324350"/>
            <a:ext cx="2857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相对视口固定</a:t>
            </a:r>
          </a:p>
          <a:p>
            <a:pPr algn="l">
              <a:def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不随内容移动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7093481-5FBB-4ED1-A422-6997209B0313}"/>
              </a:ext>
            </a:extLst>
          </p:cNvPr>
          <p:cNvSpPr>
            <a:spLocks noGrp="1"/>
          </p:cNvSpPr>
          <p:nvPr/>
        </p:nvSpPr>
        <p:spPr>
          <a:xfrm>
            <a:off x="9677400" y="4419600"/>
            <a:ext cx="1543050" cy="742950"/>
          </a:xfrm>
          <a:prstGeom prst="rect">
            <a:avLst/>
          </a:prstGeom>
          <a:solidFill>
            <a:srgbClr val="120804"/>
          </a:solidFill>
          <a:ln w="19050">
            <a:solidFill>
              <a:srgbClr val="49B81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D128680-8C78-4E93-810F-452BFB614795}"/>
              </a:ext>
            </a:extLst>
          </p:cNvPr>
          <p:cNvSpPr>
            <a:spLocks noGrp="1"/>
          </p:cNvSpPr>
          <p:nvPr/>
        </p:nvSpPr>
        <p:spPr>
          <a:xfrm>
            <a:off x="9772650" y="4514850"/>
            <a:ext cx="13525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Footer / 自定义轨道</a:t>
            </a:r>
          </a:p>
        </p:txBody>
      </p:sp>
    </p:spTree>
    <p:extLst>
      <p:ext uri="{BB962C8B-B14F-4D97-AF65-F5344CB8AC3E}">
        <p14:creationId xmlns:p14="http://schemas.microsoft.com/office/powerpoint/2010/main" val="2000791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ackground">
            <a:extLst>
              <a:ext uri="{FF2B5EF4-FFF2-40B4-BE49-F238E27FC236}">
                <a16:creationId xmlns:a16="http://schemas.microsoft.com/office/drawing/2014/main" id="{ED9A243F-D530-413F-B305-7B682CD7ED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C697A988-04CD-4B18-8404-7C0AA2A2476E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03C3060B-F356-4CAB-9397-7143FD71194F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7057DE3B-10FF-498A-8537-332A72C27F5E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9E313271-089D-41F8-847F-75472A3AFFD9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69715452-3150-473F-BBB1-AAC631A97C3B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E359103A-7024-4104-81E0-04D0FC4710D2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81EC8BDA-2D02-4B71-9F31-08C2CDE33247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2EAB310B-44EB-4BE8-AF01-72EB128F8515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AC3664C0-5E50-4E44-9889-262DEA389321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4D009AD9-282C-41B8-86D0-40FA540A7CA2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14F3DB76-E514-49CA-872E-1A1E44E32A31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6B8B83A5-E664-4D3C-8553-14FA77919290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DAD09AB4-22F1-4BEE-BE14-43BCA4F850B8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18A43261-CCEC-4A70-BBC2-98395A448DA8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E97CD8D4-1139-4E2A-A2F5-6C68219980C1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BC8B8129-68B3-4644-88C8-4CA049B42A93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301A0DCF-5002-4C6F-BB68-0F6D49E83DBB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51DC3DD7-6855-40D5-9F84-7D9B305A965B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2-marker">
            <a:extLst>
              <a:ext uri="{FF2B5EF4-FFF2-40B4-BE49-F238E27FC236}">
                <a16:creationId xmlns:a16="http://schemas.microsoft.com/office/drawing/2014/main" id="{48CB84CE-8F4F-4435-9AD6-02D71F57EBF8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2-label">
            <a:extLst>
              <a:ext uri="{FF2B5EF4-FFF2-40B4-BE49-F238E27FC236}">
                <a16:creationId xmlns:a16="http://schemas.microsoft.com/office/drawing/2014/main" id="{AA9ECC4B-E1A7-4B9D-BA54-0AEE9DB2B8B0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12.MAIN_SPLIT</a:t>
            </a:r>
          </a:p>
        </p:txBody>
      </p:sp>
      <p:sp>
        <p:nvSpPr>
          <p:cNvPr id="22" name="slide-12-title">
            <a:extLst>
              <a:ext uri="{FF2B5EF4-FFF2-40B4-BE49-F238E27FC236}">
                <a16:creationId xmlns:a16="http://schemas.microsoft.com/office/drawing/2014/main" id="{53E1D2FE-0E7D-4E97-8AF0-D3116BD222C0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03 是一个连续外框中的两个语义区域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8C751E8B-D7F6-4417-8886-4DDEF3FE8A9B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8E3F89CB-B2C7-4E53-BE5F-28E48C9137DD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612BCDF3-9379-4318-AA72-691678013CA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EB7248-5F3F-464B-B7CC-57F164C2F8BF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10782300" cy="4514850"/>
          </a:xfrm>
          <a:prstGeom prst="rect">
            <a:avLst/>
          </a:prstGeom>
          <a:solidFill>
            <a:srgbClr val="080403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9E6A7D-E6DF-4D32-89A9-C2BBEAFC5A1A}"/>
              </a:ext>
            </a:extLst>
          </p:cNvPr>
          <p:cNvSpPr>
            <a:spLocks noGrp="1"/>
          </p:cNvSpPr>
          <p:nvPr/>
        </p:nvSpPr>
        <p:spPr>
          <a:xfrm>
            <a:off x="704850" y="1352550"/>
            <a:ext cx="10782300" cy="514350"/>
          </a:xfrm>
          <a:prstGeom prst="rect">
            <a:avLst/>
          </a:prstGeom>
          <a:solidFill>
            <a:srgbClr val="120804"/>
          </a:solidFill>
          <a:ln w="9525">
            <a:solidFill>
              <a:srgbClr val="C3741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8E687A-682B-4407-ADEF-912BC5697A6B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03.MAIN_TASK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0EEDD8-336C-4BFE-B7A5-3A0662DCB2E1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10439400" cy="1981200"/>
          </a:xfrm>
          <a:prstGeom prst="rect">
            <a:avLst/>
          </a:prstGeom>
          <a:solidFill>
            <a:srgbClr val="153D0F"/>
          </a:solidFill>
          <a:ln w="0">
            <a:solidFill>
              <a:srgbClr val="153D0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6562BC-0F63-4804-B25B-FB2571E26BBD}"/>
              </a:ext>
            </a:extLst>
          </p:cNvPr>
          <p:cNvSpPr>
            <a:spLocks noGrp="1"/>
          </p:cNvSpPr>
          <p:nvPr/>
        </p:nvSpPr>
        <p:spPr>
          <a:xfrm>
            <a:off x="1104900" y="22479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UPPER / CONVERSATION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8BEC811-6F1B-4F9D-B404-247DA14ADD6C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独立滚动 · min-height: 220px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F84F91-0464-443C-86C0-8C74DF17EF56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对话内容始终拥有优先阅读空间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6A89045-8E3A-4F13-BD1E-DA88BA19A62F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10439400" cy="133350"/>
          </a:xfrm>
          <a:prstGeom prst="rect">
            <a:avLst/>
          </a:prstGeom>
          <a:solidFill>
            <a:srgbClr val="030201"/>
          </a:solidFill>
          <a:ln w="9525">
            <a:solidFill>
              <a:srgbClr val="C3741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DE48CD-A944-45CC-A924-500D1DEBD527}"/>
              </a:ext>
            </a:extLst>
          </p:cNvPr>
          <p:cNvSpPr>
            <a:spLocks noGrp="1"/>
          </p:cNvSpPr>
          <p:nvPr/>
        </p:nvSpPr>
        <p:spPr>
          <a:xfrm>
            <a:off x="8324850" y="40481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8px STRUCTURAL GAP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466C3D-A74E-4272-AE6D-1C2E93DA2838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10439400" cy="1371600"/>
          </a:xfrm>
          <a:prstGeom prst="rect">
            <a:avLst/>
          </a:prstGeom>
          <a:solidFill>
            <a:srgbClr val="030201"/>
          </a:solidFill>
          <a:ln w="9525">
            <a:solidFill>
              <a:srgbClr val="C37412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987E3B-EDF7-4C08-91A8-BFE7B79AB256}"/>
              </a:ext>
            </a:extLst>
          </p:cNvPr>
          <p:cNvSpPr>
            <a:spLocks noGrp="1"/>
          </p:cNvSpPr>
          <p:nvPr/>
        </p:nvSpPr>
        <p:spPr>
          <a:xfrm>
            <a:off x="1104900" y="44767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TASK_COMPOSER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3A717E6-C213-4D52-8DAC-CB2716CE9EDE}"/>
              </a:ext>
            </a:extLst>
          </p:cNvPr>
          <p:cNvSpPr>
            <a:spLocks noGrp="1"/>
          </p:cNvSpPr>
          <p:nvPr/>
        </p:nvSpPr>
        <p:spPr>
          <a:xfrm>
            <a:off x="1104900" y="495300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min 150px · max 40% · sticky bottom: 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20D615-EC6D-4303-A500-694120EC4B77}"/>
              </a:ext>
            </a:extLst>
          </p:cNvPr>
          <p:cNvSpPr>
            <a:spLocks noGrp="1"/>
          </p:cNvSpPr>
          <p:nvPr/>
        </p:nvSpPr>
        <p:spPr>
          <a:xfrm>
            <a:off x="8724900" y="4953000"/>
            <a:ext cx="2038350" cy="2667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7C36FDD-41DB-449E-92E2-7207F03C2E4C}"/>
              </a:ext>
            </a:extLst>
          </p:cNvPr>
          <p:cNvSpPr>
            <a:spLocks noGrp="1"/>
          </p:cNvSpPr>
          <p:nvPr/>
        </p:nvSpPr>
        <p:spPr>
          <a:xfrm>
            <a:off x="8724900" y="4962525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NOT FLOATING</a:t>
            </a:r>
          </a:p>
        </p:txBody>
      </p:sp>
    </p:spTree>
    <p:extLst>
      <p:ext uri="{BB962C8B-B14F-4D97-AF65-F5344CB8AC3E}">
        <p14:creationId xmlns:p14="http://schemas.microsoft.com/office/powerpoint/2010/main" val="191600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ackground">
            <a:extLst>
              <a:ext uri="{FF2B5EF4-FFF2-40B4-BE49-F238E27FC236}">
                <a16:creationId xmlns:a16="http://schemas.microsoft.com/office/drawing/2014/main" id="{939EE941-A48E-49EF-9C5F-5A360F2298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6E6DF812-6258-46EC-A654-A803D106C41A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0B340ADA-EB3C-4B4D-B946-6187A3ADDEBB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04F9C687-481F-4F12-AD4F-425F8245B726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8DB1C4DB-9516-4ECC-9BFC-D9BC47E87498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9FA6E0D6-5099-456A-982B-F8F9C01421EE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E1FD42A8-FC37-4787-8130-48D5DCB029EA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316B651E-ADAD-4B6F-AD2F-64AF2A4CD734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807C668C-9376-4A7D-A39A-6CA30532D24C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0CDFC9E9-E357-4D88-8654-0D91E44FA0D2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083FF18D-387B-40CF-8AAB-29FF55A5006B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357B8971-D04C-4E2C-BCA5-CDBA6B6B71AD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301E62B3-4C01-470A-AB21-CA786DD1D03A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B097BD23-D716-479F-99FD-F3B05D3945A6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4BEC5713-93B5-4EC1-BF76-C28BFE10DD58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5E4843E2-30EF-4E31-91F4-5F7DE4206F8F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B98BC38C-4DDC-40E0-A3F0-AFB7AEE75277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A6ACFF82-B992-4F0B-82AA-324A52F0F787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1E6B03A1-DBF5-4D6D-B77D-F293578FF760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3-marker">
            <a:extLst>
              <a:ext uri="{FF2B5EF4-FFF2-40B4-BE49-F238E27FC236}">
                <a16:creationId xmlns:a16="http://schemas.microsoft.com/office/drawing/2014/main" id="{5040D1A1-616D-448A-880B-606B57E0FBD6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3-label">
            <a:extLst>
              <a:ext uri="{FF2B5EF4-FFF2-40B4-BE49-F238E27FC236}">
                <a16:creationId xmlns:a16="http://schemas.microsoft.com/office/drawing/2014/main" id="{0E87ACE0-5D18-4AAB-B8DD-B53B15372592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13.SCROLL_SYSTEM</a:t>
            </a:r>
          </a:p>
        </p:txBody>
      </p:sp>
      <p:sp>
        <p:nvSpPr>
          <p:cNvPr id="22" name="slide-13-title">
            <a:extLst>
              <a:ext uri="{FF2B5EF4-FFF2-40B4-BE49-F238E27FC236}">
                <a16:creationId xmlns:a16="http://schemas.microsoft.com/office/drawing/2014/main" id="{56B4AAC7-4F16-4E8E-BC05-2E08BE080841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原生滚动面负责移动；自定义轨道负责控制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3BBBDB7D-BC7D-4CEF-A529-44A8EC05DDA3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6F8E6B43-D8D0-4E7B-84F7-29F54EA8F1B1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ED359F60-80E0-4AA1-8A81-BF498EF1D0A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1FFCEB-7FD7-4224-A3AD-817696A0B3AC}"/>
              </a:ext>
            </a:extLst>
          </p:cNvPr>
          <p:cNvSpPr>
            <a:spLocks noGrp="1"/>
          </p:cNvSpPr>
          <p:nvPr/>
        </p:nvSpPr>
        <p:spPr>
          <a:xfrm>
            <a:off x="533400" y="1543050"/>
            <a:ext cx="3143250" cy="3390900"/>
          </a:xfrm>
          <a:prstGeom prst="rect">
            <a:avLst/>
          </a:prstGeom>
          <a:solidFill>
            <a:srgbClr val="080403"/>
          </a:solidFill>
          <a:ln w="9525">
            <a:solidFill>
              <a:srgbClr val="B8A47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5D24BFF-F702-4060-A755-18742F689CDE}"/>
              </a:ext>
            </a:extLst>
          </p:cNvPr>
          <p:cNvSpPr>
            <a:spLocks noGrp="1"/>
          </p:cNvSpPr>
          <p:nvPr/>
        </p:nvSpPr>
        <p:spPr>
          <a:xfrm>
            <a:off x="533400" y="1905000"/>
            <a:ext cx="3143250" cy="9525"/>
          </a:xfrm>
          <a:prstGeom prst="rect">
            <a:avLst/>
          </a:prstGeom>
          <a:solidFill>
            <a:srgbClr val="B8A477"/>
          </a:solidFill>
          <a:ln w="0">
            <a:solidFill>
              <a:srgbClr val="B8A477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2132F0F-C1A1-4017-99EE-2947A4685E8F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NATIVE SURFACE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EA9600-1A9A-400F-8464-50E5A4CBDF9F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2647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overflow-y: auto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95A3D01-2696-4E36-859E-9F406BEBC384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2076450" cy="1619250"/>
          </a:xfrm>
          <a:prstGeom prst="rect">
            <a:avLst/>
          </a:prstGeom>
          <a:solidFill>
            <a:srgbClr val="120804"/>
          </a:solidFill>
          <a:ln w="9525">
            <a:solidFill>
              <a:srgbClr val="B8A47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0EDF16-A114-4591-84F8-9C3B4010B352}"/>
              </a:ext>
            </a:extLst>
          </p:cNvPr>
          <p:cNvSpPr>
            <a:spLocks noGrp="1"/>
          </p:cNvSpPr>
          <p:nvPr/>
        </p:nvSpPr>
        <p:spPr>
          <a:xfrm>
            <a:off x="1238250" y="3009900"/>
            <a:ext cx="17335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scrollTop</a:t>
            </a:r>
          </a:p>
          <a:p>
            <a:pPr algn="ctr">
              <a:defRPr sz="14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scrollHeight</a:t>
            </a:r>
          </a:p>
          <a:p>
            <a:pPr algn="ctr">
              <a:defRPr sz="14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clientHeight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6D7B43A-D1B4-4467-BA2C-3E1EA124BFEE}"/>
              </a:ext>
            </a:extLst>
          </p:cNvPr>
          <p:cNvSpPr>
            <a:spLocks noGrp="1"/>
          </p:cNvSpPr>
          <p:nvPr/>
        </p:nvSpPr>
        <p:spPr>
          <a:xfrm>
            <a:off x="4514850" y="1543050"/>
            <a:ext cx="3143250" cy="33909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C6A7CB2-D9B8-49F4-AF4C-E4B0481B7043}"/>
              </a:ext>
            </a:extLst>
          </p:cNvPr>
          <p:cNvSpPr>
            <a:spLocks noGrp="1"/>
          </p:cNvSpPr>
          <p:nvPr/>
        </p:nvSpPr>
        <p:spPr>
          <a:xfrm>
            <a:off x="4514850" y="1905000"/>
            <a:ext cx="314325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366D1B-0E2C-47DF-BD02-46F0C3E0FAD2}"/>
              </a:ext>
            </a:extLst>
          </p:cNvPr>
          <p:cNvSpPr>
            <a:spLocks noGrp="1"/>
          </p:cNvSpPr>
          <p:nvPr/>
        </p:nvSpPr>
        <p:spPr>
          <a:xfrm>
            <a:off x="4648200" y="161925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JS CONTROLLER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7249BB-8E16-4B44-BE68-E699484C8401}"/>
              </a:ext>
            </a:extLst>
          </p:cNvPr>
          <p:cNvSpPr>
            <a:spLocks noGrp="1"/>
          </p:cNvSpPr>
          <p:nvPr/>
        </p:nvSpPr>
        <p:spPr>
          <a:xfrm>
            <a:off x="4705350" y="2171700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syncTacticalScrollbar()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D4E0BD-A12A-4599-A59C-61E02D3A9A7C}"/>
              </a:ext>
            </a:extLst>
          </p:cNvPr>
          <p:cNvSpPr>
            <a:spLocks noGrp="1"/>
          </p:cNvSpPr>
          <p:nvPr/>
        </p:nvSpPr>
        <p:spPr>
          <a:xfrm>
            <a:off x="4876800" y="2895600"/>
            <a:ext cx="24193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测量轨道</a:t>
            </a:r>
          </a:p>
          <a:p>
            <a:pPr algn="ctr">
              <a:defRPr sz="150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映射 thumbOffset</a:t>
            </a:r>
          </a:p>
          <a:p>
            <a:pPr algn="ctr">
              <a:defRPr sz="150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处理 drag / wheel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87CFD62-2F6F-4140-A461-687244ADA906}"/>
              </a:ext>
            </a:extLst>
          </p:cNvPr>
          <p:cNvSpPr>
            <a:spLocks noGrp="1"/>
          </p:cNvSpPr>
          <p:nvPr/>
        </p:nvSpPr>
        <p:spPr>
          <a:xfrm>
            <a:off x="8496300" y="1543050"/>
            <a:ext cx="3143250" cy="33909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36E3B4-74FA-4F42-A0FD-023DABF793DE}"/>
              </a:ext>
            </a:extLst>
          </p:cNvPr>
          <p:cNvSpPr>
            <a:spLocks noGrp="1"/>
          </p:cNvSpPr>
          <p:nvPr/>
        </p:nvSpPr>
        <p:spPr>
          <a:xfrm>
            <a:off x="8496300" y="1905000"/>
            <a:ext cx="314325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09A8979-4F62-4098-821D-C4E9A6CE4C73}"/>
              </a:ext>
            </a:extLst>
          </p:cNvPr>
          <p:cNvSpPr>
            <a:spLocks noGrp="1"/>
          </p:cNvSpPr>
          <p:nvPr/>
        </p:nvSpPr>
        <p:spPr>
          <a:xfrm>
            <a:off x="8629650" y="161925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CUSTOM TRACK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B3CEB3D-5296-4B4D-ABFD-780C93B99521}"/>
              </a:ext>
            </a:extLst>
          </p:cNvPr>
          <p:cNvSpPr>
            <a:spLocks noGrp="1"/>
          </p:cNvSpPr>
          <p:nvPr/>
        </p:nvSpPr>
        <p:spPr>
          <a:xfrm>
            <a:off x="9848850" y="2209800"/>
            <a:ext cx="209550" cy="215265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E29704-6C43-4A10-84C2-D8B550EDFB2B}"/>
              </a:ext>
            </a:extLst>
          </p:cNvPr>
          <p:cNvSpPr>
            <a:spLocks noGrp="1"/>
          </p:cNvSpPr>
          <p:nvPr/>
        </p:nvSpPr>
        <p:spPr>
          <a:xfrm>
            <a:off x="9867900" y="2724150"/>
            <a:ext cx="171450" cy="723900"/>
          </a:xfrm>
          <a:prstGeom prst="rect">
            <a:avLst/>
          </a:prstGeom>
          <a:solidFill>
            <a:srgbClr val="D7AD55"/>
          </a:solidFill>
          <a:ln w="9525">
            <a:solidFill>
              <a:srgbClr val="F6EAC9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73BE8F-B5EB-4938-948D-42EE4BBC7226}"/>
              </a:ext>
            </a:extLst>
          </p:cNvPr>
          <p:cNvSpPr>
            <a:spLocks noGrp="1"/>
          </p:cNvSpPr>
          <p:nvPr/>
        </p:nvSpPr>
        <p:spPr>
          <a:xfrm>
            <a:off x="8915400" y="3676650"/>
            <a:ext cx="23050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CSS 绘制</a:t>
            </a:r>
          </a:p>
          <a:p>
            <a:pPr algn="ctr">
              <a:def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JS 驱动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018B261-C6C6-4102-A8CB-66C217519EDC}"/>
              </a:ext>
            </a:extLst>
          </p:cNvPr>
          <p:cNvSpPr>
            <a:spLocks noGrp="1"/>
          </p:cNvSpPr>
          <p:nvPr/>
        </p:nvSpPr>
        <p:spPr>
          <a:xfrm>
            <a:off x="3714750" y="3238500"/>
            <a:ext cx="5905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92FBAA2-2A74-46A5-ABEC-EE5FA436C5FF}"/>
              </a:ext>
            </a:extLst>
          </p:cNvPr>
          <p:cNvSpPr>
            <a:spLocks noGrp="1"/>
          </p:cNvSpPr>
          <p:nvPr/>
        </p:nvSpPr>
        <p:spPr>
          <a:xfrm>
            <a:off x="4248150" y="30956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9204844-4977-49B3-ACDC-048A5C3B6A05}"/>
              </a:ext>
            </a:extLst>
          </p:cNvPr>
          <p:cNvSpPr>
            <a:spLocks noGrp="1"/>
          </p:cNvSpPr>
          <p:nvPr/>
        </p:nvSpPr>
        <p:spPr>
          <a:xfrm>
            <a:off x="7696200" y="3238500"/>
            <a:ext cx="5905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744C7C7-E4A6-4FEE-A8E0-55D5A3E3BC4D}"/>
              </a:ext>
            </a:extLst>
          </p:cNvPr>
          <p:cNvSpPr>
            <a:spLocks noGrp="1"/>
          </p:cNvSpPr>
          <p:nvPr/>
        </p:nvSpPr>
        <p:spPr>
          <a:xfrm>
            <a:off x="8229600" y="30956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7637B99-7B3C-4E6A-81DB-809D2C4B782C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7429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75" b="1">
                <a:solidFill>
                  <a:srgbClr val="D7AD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D7AD55"/>
                </a:solidFill>
                <a:latin typeface="Microsoft YaHei UI"/>
                <a:ea typeface="Microsoft YaHei UI"/>
                <a:cs typeface="Microsoft YaHei UI"/>
              </a:rPr>
              <a:t>隐藏原生滚动条 ≠ 禁用滚动能力</a:t>
            </a:r>
          </a:p>
        </p:txBody>
      </p:sp>
    </p:spTree>
    <p:extLst>
      <p:ext uri="{BB962C8B-B14F-4D97-AF65-F5344CB8AC3E}">
        <p14:creationId xmlns:p14="http://schemas.microsoft.com/office/powerpoint/2010/main" val="15413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background">
            <a:extLst>
              <a:ext uri="{FF2B5EF4-FFF2-40B4-BE49-F238E27FC236}">
                <a16:creationId xmlns:a16="http://schemas.microsoft.com/office/drawing/2014/main" id="{2BD1A620-D453-4593-8788-A8A8787D78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0D7E0EBA-7D4C-4D26-BDDB-1A2BDABBB5D4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FA694A7F-77FA-4DAB-98C2-8DD431704A77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38993836-3B66-4C71-B3C3-63FA7EAC4440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EFD9B70C-5990-4CA4-A6DA-F53A03810BCA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3A5CCC9C-DA39-4A5E-B474-03DC039BE57D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A383DD1B-4242-473C-974E-A403FD0C845F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CD20608C-7025-4EB1-8430-DC03675BCFAC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DF8A73EF-2B1C-4C4C-80EF-78266C9EA3FD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770B820A-01DD-431E-9AF3-98EF88271294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D58A26CD-1844-4F88-907E-7D97B24D5EA4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530FD908-0BF7-4AB8-BEA9-8D66EE26317A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D46D06E7-6964-43F9-8F93-120C0819A301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08784B8E-9844-4506-80F7-29C1F56FE118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F10AE387-8410-4D0B-9ECA-BDE20F195D4D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F2340205-5D25-4307-B39C-F16EB8B05569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1FA575A6-0E14-4E86-80F4-BE8DD7270E70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83F826A8-6D5C-4C09-8BD4-016A7CFE8480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8384F385-2376-4FFC-9B9C-C4F449E2FCD7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4-marker">
            <a:extLst>
              <a:ext uri="{FF2B5EF4-FFF2-40B4-BE49-F238E27FC236}">
                <a16:creationId xmlns:a16="http://schemas.microsoft.com/office/drawing/2014/main" id="{83DC4746-5478-414F-A0AA-E3C205A1BD29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4-label">
            <a:extLst>
              <a:ext uri="{FF2B5EF4-FFF2-40B4-BE49-F238E27FC236}">
                <a16:creationId xmlns:a16="http://schemas.microsoft.com/office/drawing/2014/main" id="{2038F53E-A06F-44B1-99C9-67686F636920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14.DOM_INJECTION</a:t>
            </a:r>
          </a:p>
        </p:txBody>
      </p:sp>
      <p:sp>
        <p:nvSpPr>
          <p:cNvPr id="22" name="slide-14-title">
            <a:extLst>
              <a:ext uri="{FF2B5EF4-FFF2-40B4-BE49-F238E27FC236}">
                <a16:creationId xmlns:a16="http://schemas.microsoft.com/office/drawing/2014/main" id="{6982F6D8-151D-4137-A971-AB8F2EDC8CBD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语义类让易变的 React DOM 变得可维护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08B55585-A59D-411D-8065-6BA93E479E91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72D689FB-D41D-4844-9E45-99D0A1954942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A994C33A-8A8C-4F24-BB13-47CB6BD5476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C9911B-629A-4107-8B36-F7114013352D}"/>
              </a:ext>
            </a:extLst>
          </p:cNvPr>
          <p:cNvSpPr>
            <a:spLocks noGrp="1"/>
          </p:cNvSpPr>
          <p:nvPr/>
        </p:nvSpPr>
        <p:spPr>
          <a:xfrm>
            <a:off x="571500" y="1981200"/>
            <a:ext cx="2190750" cy="1771650"/>
          </a:xfrm>
          <a:prstGeom prst="rect">
            <a:avLst/>
          </a:prstGeom>
          <a:solidFill>
            <a:srgbClr val="080403"/>
          </a:solidFill>
          <a:ln w="9525">
            <a:solidFill>
              <a:srgbClr val="B8A47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C8A4F6-A488-4B67-B4E9-A8D7D93E9388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2190750" cy="9525"/>
          </a:xfrm>
          <a:prstGeom prst="rect">
            <a:avLst/>
          </a:prstGeom>
          <a:solidFill>
            <a:srgbClr val="B8A477"/>
          </a:solidFill>
          <a:ln w="0">
            <a:solidFill>
              <a:srgbClr val="B8A477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07A82F-6222-42E3-A1B2-3C8660307204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NATIVE DOM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EB635B-2868-4FF9-988F-DBDB1CF241A1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class="_footer_1x8j3_2"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A13B39E-CDC5-4FF6-8BFF-26CD5FB30B02}"/>
              </a:ext>
            </a:extLst>
          </p:cNvPr>
          <p:cNvSpPr>
            <a:spLocks noGrp="1"/>
          </p:cNvSpPr>
          <p:nvPr/>
        </p:nvSpPr>
        <p:spPr>
          <a:xfrm>
            <a:off x="2800350" y="2857500"/>
            <a:ext cx="4953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AB9ECE-CA51-4FBB-A77F-32E16F4C6BDC}"/>
              </a:ext>
            </a:extLst>
          </p:cNvPr>
          <p:cNvSpPr>
            <a:spLocks noGrp="1"/>
          </p:cNvSpPr>
          <p:nvPr/>
        </p:nvSpPr>
        <p:spPr>
          <a:xfrm>
            <a:off x="3238500" y="27146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3EBEF12-3A42-41F4-B181-936E1EC0F622}"/>
              </a:ext>
            </a:extLst>
          </p:cNvPr>
          <p:cNvSpPr>
            <a:spLocks noGrp="1"/>
          </p:cNvSpPr>
          <p:nvPr/>
        </p:nvSpPr>
        <p:spPr>
          <a:xfrm>
            <a:off x="3524250" y="1981200"/>
            <a:ext cx="2190750" cy="17716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882E3B-C27F-421D-98A4-A06A4F7352E7}"/>
              </a:ext>
            </a:extLst>
          </p:cNvPr>
          <p:cNvSpPr>
            <a:spLocks noGrp="1"/>
          </p:cNvSpPr>
          <p:nvPr/>
        </p:nvSpPr>
        <p:spPr>
          <a:xfrm>
            <a:off x="3524250" y="2343150"/>
            <a:ext cx="219075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A961E5D-CF14-4723-9570-D2A782452825}"/>
              </a:ext>
            </a:extLst>
          </p:cNvPr>
          <p:cNvSpPr>
            <a:spLocks noGrp="1"/>
          </p:cNvSpPr>
          <p:nvPr/>
        </p:nvSpPr>
        <p:spPr>
          <a:xfrm>
            <a:off x="3657600" y="205740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QUERY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16D730-AF0D-4C07-8266-27736A22D685}"/>
              </a:ext>
            </a:extLst>
          </p:cNvPr>
          <p:cNvSpPr>
            <a:spLocks noGrp="1"/>
          </p:cNvSpPr>
          <p:nvPr/>
        </p:nvSpPr>
        <p:spPr>
          <a:xfrm>
            <a:off x="3676650" y="26860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querySelector(...)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2A3C8A7-03BD-4283-902B-BEEA4C46A1B6}"/>
              </a:ext>
            </a:extLst>
          </p:cNvPr>
          <p:cNvSpPr>
            <a:spLocks noGrp="1"/>
          </p:cNvSpPr>
          <p:nvPr/>
        </p:nvSpPr>
        <p:spPr>
          <a:xfrm>
            <a:off x="5753100" y="2857500"/>
            <a:ext cx="4953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5B079B-9967-4F4F-9BA1-966AFA461983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EBCA4D6-BEF3-4D42-A37B-4D8E150ACD2C}"/>
              </a:ext>
            </a:extLst>
          </p:cNvPr>
          <p:cNvSpPr>
            <a:spLocks noGrp="1"/>
          </p:cNvSpPr>
          <p:nvPr/>
        </p:nvSpPr>
        <p:spPr>
          <a:xfrm>
            <a:off x="6477000" y="1981200"/>
            <a:ext cx="2190750" cy="17716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73C2A1F-A63C-47CE-A747-85DFC1A9587E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219075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6851DEC-331F-42F4-BD72-69F6553748B2}"/>
              </a:ext>
            </a:extLst>
          </p:cNvPr>
          <p:cNvSpPr>
            <a:spLocks noGrp="1"/>
          </p:cNvSpPr>
          <p:nvPr/>
        </p:nvSpPr>
        <p:spPr>
          <a:xfrm>
            <a:off x="6610350" y="205740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CLASSIFY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1FAF209-0CFD-4C30-9EAA-DBC7407EE76E}"/>
              </a:ext>
            </a:extLst>
          </p:cNvPr>
          <p:cNvSpPr>
            <a:spLocks noGrp="1"/>
          </p:cNvSpPr>
          <p:nvPr/>
        </p:nvSpPr>
        <p:spPr>
          <a:xfrm>
            <a:off x="6629400" y="26860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syncOwnedClass(...)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6749918-8CD6-4A7A-A8E9-A0B1863B2E23}"/>
              </a:ext>
            </a:extLst>
          </p:cNvPr>
          <p:cNvSpPr>
            <a:spLocks noGrp="1"/>
          </p:cNvSpPr>
          <p:nvPr/>
        </p:nvSpPr>
        <p:spPr>
          <a:xfrm>
            <a:off x="8705850" y="2857500"/>
            <a:ext cx="4953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A2EC933-5FDF-4439-9154-3749C2DF141E}"/>
              </a:ext>
            </a:extLst>
          </p:cNvPr>
          <p:cNvSpPr>
            <a:spLocks noGrp="1"/>
          </p:cNvSpPr>
          <p:nvPr/>
        </p:nvSpPr>
        <p:spPr>
          <a:xfrm>
            <a:off x="9144000" y="27146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6A0D1E1-3622-4F2D-8E37-B3B7231931FD}"/>
              </a:ext>
            </a:extLst>
          </p:cNvPr>
          <p:cNvSpPr>
            <a:spLocks noGrp="1"/>
          </p:cNvSpPr>
          <p:nvPr/>
        </p:nvSpPr>
        <p:spPr>
          <a:xfrm>
            <a:off x="9429750" y="1981200"/>
            <a:ext cx="2190750" cy="17716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45C31AD-E84E-4BC9-BD05-C24A2A3CDFB7}"/>
              </a:ext>
            </a:extLst>
          </p:cNvPr>
          <p:cNvSpPr>
            <a:spLocks noGrp="1"/>
          </p:cNvSpPr>
          <p:nvPr/>
        </p:nvSpPr>
        <p:spPr>
          <a:xfrm>
            <a:off x="9429750" y="2343150"/>
            <a:ext cx="219075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7944182-B4F4-400F-9DD1-C3678D0042FD}"/>
              </a:ext>
            </a:extLst>
          </p:cNvPr>
          <p:cNvSpPr>
            <a:spLocks noGrp="1"/>
          </p:cNvSpPr>
          <p:nvPr/>
        </p:nvSpPr>
        <p:spPr>
          <a:xfrm>
            <a:off x="9563100" y="205740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STABLE CSS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A608A74-D2F4-471E-8E29-D682E92F45FA}"/>
              </a:ext>
            </a:extLst>
          </p:cNvPr>
          <p:cNvSpPr>
            <a:spLocks noGrp="1"/>
          </p:cNvSpPr>
          <p:nvPr/>
        </p:nvSpPr>
        <p:spPr>
          <a:xfrm>
            <a:off x="9582150" y="26860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.dream-composer-status-bar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50C897-1DEA-473A-882B-FF0091FEAEDA}"/>
              </a:ext>
            </a:extLst>
          </p:cNvPr>
          <p:cNvSpPr>
            <a:spLocks noGrp="1"/>
          </p:cNvSpPr>
          <p:nvPr/>
        </p:nvSpPr>
        <p:spPr>
          <a:xfrm>
            <a:off x="1771650" y="4324350"/>
            <a:ext cx="8648700" cy="8382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490C55D-15F4-44E5-92D4-86D54C9072B6}"/>
              </a:ext>
            </a:extLst>
          </p:cNvPr>
          <p:cNvSpPr>
            <a:spLocks noGrp="1"/>
          </p:cNvSpPr>
          <p:nvPr/>
        </p:nvSpPr>
        <p:spPr>
          <a:xfrm>
            <a:off x="1885950" y="4381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STABLE SEMANTIC BRIDGE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28A3EAC-5B31-41CF-8C18-02E52FEF39AC}"/>
              </a:ext>
            </a:extLst>
          </p:cNvPr>
          <p:cNvSpPr>
            <a:spLocks noGrp="1"/>
          </p:cNvSpPr>
          <p:nvPr/>
        </p:nvSpPr>
        <p:spPr>
          <a:xfrm>
            <a:off x="1924050" y="4581525"/>
            <a:ext cx="8343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const editable = composerSurface?.querySelector?.("[data-codex-composer=true]");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2F188DA-247E-4C53-A182-6F79BF002F64}"/>
              </a:ext>
            </a:extLst>
          </p:cNvPr>
          <p:cNvSpPr>
            <a:spLocks noGrp="1"/>
          </p:cNvSpPr>
          <p:nvPr/>
        </p:nvSpPr>
        <p:spPr>
          <a:xfrm>
            <a:off x="1857375" y="4867275"/>
            <a:ext cx="8477250" cy="285750"/>
          </a:xfrm>
          <a:prstGeom prst="rect">
            <a:avLst/>
          </a:prstGeom>
          <a:solidFill>
            <a:srgbClr val="120804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A5C4404-0979-4923-BB19-411E72D4756F}"/>
              </a:ext>
            </a:extLst>
          </p:cNvPr>
          <p:cNvSpPr>
            <a:spLocks noGrp="1"/>
          </p:cNvSpPr>
          <p:nvPr/>
        </p:nvSpPr>
        <p:spPr>
          <a:xfrm>
            <a:off x="1924050" y="4886325"/>
            <a:ext cx="8343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syncOwnedClass("dream-composer-input-line", [editable?.parentElement?.parentElement]);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8A94856-7F60-42A8-8618-7E4B7898BCB1}"/>
              </a:ext>
            </a:extLst>
          </p:cNvPr>
          <p:cNvSpPr>
            <a:spLocks noGrp="1"/>
          </p:cNvSpPr>
          <p:nvPr/>
        </p:nvSpPr>
        <p:spPr>
          <a:xfrm>
            <a:off x="1600200" y="5562600"/>
            <a:ext cx="899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D95B5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D95B52"/>
                </a:solidFill>
                <a:latin typeface="Microsoft YaHei UI"/>
                <a:ea typeface="Microsoft YaHei UI"/>
                <a:cs typeface="Microsoft YaHei UI"/>
              </a:rPr>
              <a:t>不要随便移动 React 管理的输入框；添加类比搬节点安全得多。</a:t>
            </a:r>
          </a:p>
        </p:txBody>
      </p:sp>
    </p:spTree>
    <p:extLst>
      <p:ext uri="{BB962C8B-B14F-4D97-AF65-F5344CB8AC3E}">
        <p14:creationId xmlns:p14="http://schemas.microsoft.com/office/powerpoint/2010/main" val="806512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ackground">
            <a:extLst>
              <a:ext uri="{FF2B5EF4-FFF2-40B4-BE49-F238E27FC236}">
                <a16:creationId xmlns:a16="http://schemas.microsoft.com/office/drawing/2014/main" id="{C0934044-2D1B-40FB-B41B-01621D366D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DBF89F60-6AE2-41CE-A323-D371E8DD8E0E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B986F3B7-FD85-4343-B619-93C5370F5200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58236E6C-FCD6-430B-AF98-8F01CF786501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AED15CE0-9FF2-497A-91EB-5B51B1A4CA31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FD3BAB3E-FF29-49C4-BD22-BD4BB07F1B03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A13B508D-5B62-43BF-9981-EADE1DA1C61A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54879344-6801-4EE9-9A8B-445DAD551E73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D2396CE4-19B8-47B9-B471-D5AF0380AE14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DB71ED2E-2876-4A8B-B06F-24F161CD005B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03299436-F8E2-44EE-95BC-2A2AAFA2A437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55459A52-294E-4C41-B3DB-EA6F0E3973A3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98EE129D-181E-435C-B66A-46903B0E2F38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6BEBB048-4BFF-49DD-A5EB-025121F54E8A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70D7C8CD-F509-485D-AF54-B506C2C72123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EB12B9F5-4A87-46EC-B583-2AF8CD09BDB9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9E421761-1ABB-45CF-A131-2B67E21DE86C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55A9FE57-179F-4A1C-9293-F61AE0F56C11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38A3A1D2-22BB-4047-926D-805CE9A73AC9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5-marker">
            <a:extLst>
              <a:ext uri="{FF2B5EF4-FFF2-40B4-BE49-F238E27FC236}">
                <a16:creationId xmlns:a16="http://schemas.microsoft.com/office/drawing/2014/main" id="{F29200D6-10E1-46BA-9B85-8E87C66A3AFB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5-label">
            <a:extLst>
              <a:ext uri="{FF2B5EF4-FFF2-40B4-BE49-F238E27FC236}">
                <a16:creationId xmlns:a16="http://schemas.microsoft.com/office/drawing/2014/main" id="{7C65AD42-0E08-462D-AF0F-DA97210A9E0F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15.DEVTOOLS</a:t>
            </a:r>
          </a:p>
        </p:txBody>
      </p:sp>
      <p:sp>
        <p:nvSpPr>
          <p:cNvPr id="22" name="slide-15-title">
            <a:extLst>
              <a:ext uri="{FF2B5EF4-FFF2-40B4-BE49-F238E27FC236}">
                <a16:creationId xmlns:a16="http://schemas.microsoft.com/office/drawing/2014/main" id="{3F4635AA-1852-4BC9-A0B0-282BA253DDCA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把“看起来不对”转成可测量的 CSS 假设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5F4BC298-10C4-4B76-AB1A-13CA0EAD2E53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A612A0DF-659E-485E-8633-CC810C96B80B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6EE92FBF-1DFA-4811-B15B-D14F705A5348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42B259-C5F1-47E2-95C7-E6AFB782846D}"/>
              </a:ext>
            </a:extLst>
          </p:cNvPr>
          <p:cNvSpPr>
            <a:spLocks noGrp="1"/>
          </p:cNvSpPr>
          <p:nvPr/>
        </p:nvSpPr>
        <p:spPr>
          <a:xfrm>
            <a:off x="438150" y="1619250"/>
            <a:ext cx="1885950" cy="135255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96B2DD1-A358-47AC-94F2-D7C61DFECC9D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11E496-043F-4DB6-B6F9-6E8965B410F0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点中元素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09C697-BF1F-4CEB-A496-67289B065788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Elements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6EC792-EB93-48B1-B16B-20CB935188DE}"/>
              </a:ext>
            </a:extLst>
          </p:cNvPr>
          <p:cNvSpPr>
            <a:spLocks noGrp="1"/>
          </p:cNvSpPr>
          <p:nvPr/>
        </p:nvSpPr>
        <p:spPr>
          <a:xfrm>
            <a:off x="2362200" y="2295525"/>
            <a:ext cx="1905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E0571A-AC2D-4C27-AA22-06505DC88DAF}"/>
              </a:ext>
            </a:extLst>
          </p:cNvPr>
          <p:cNvSpPr>
            <a:spLocks noGrp="1"/>
          </p:cNvSpPr>
          <p:nvPr/>
        </p:nvSpPr>
        <p:spPr>
          <a:xfrm>
            <a:off x="2495550" y="21526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F58AF5-B504-43FA-9585-885A36C3E5DF}"/>
              </a:ext>
            </a:extLst>
          </p:cNvPr>
          <p:cNvSpPr>
            <a:spLocks noGrp="1"/>
          </p:cNvSpPr>
          <p:nvPr/>
        </p:nvSpPr>
        <p:spPr>
          <a:xfrm>
            <a:off x="2762250" y="1619250"/>
            <a:ext cx="1885950" cy="135255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ED5D69-918B-4D3A-92F4-98DF42D7C827}"/>
              </a:ext>
            </a:extLst>
          </p:cNvPr>
          <p:cNvSpPr>
            <a:spLocks noGrp="1"/>
          </p:cNvSpPr>
          <p:nvPr/>
        </p:nvSpPr>
        <p:spPr>
          <a:xfrm>
            <a:off x="2895600" y="17526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6EE6B6-8C04-49AD-ACEA-E49D859E0672}"/>
              </a:ext>
            </a:extLst>
          </p:cNvPr>
          <p:cNvSpPr>
            <a:spLocks noGrp="1"/>
          </p:cNvSpPr>
          <p:nvPr/>
        </p:nvSpPr>
        <p:spPr>
          <a:xfrm>
            <a:off x="2895600" y="21145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找赢家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E9A5D4-EB72-4D85-982D-BB464F82F52F}"/>
              </a:ext>
            </a:extLst>
          </p:cNvPr>
          <p:cNvSpPr>
            <a:spLocks noGrp="1"/>
          </p:cNvSpPr>
          <p:nvPr/>
        </p:nvSpPr>
        <p:spPr>
          <a:xfrm>
            <a:off x="2895600" y="2571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Styles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0D1305D-561F-4B54-A457-93D256409021}"/>
              </a:ext>
            </a:extLst>
          </p:cNvPr>
          <p:cNvSpPr>
            <a:spLocks noGrp="1"/>
          </p:cNvSpPr>
          <p:nvPr/>
        </p:nvSpPr>
        <p:spPr>
          <a:xfrm>
            <a:off x="4686300" y="2295525"/>
            <a:ext cx="1905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159C174-537D-4F80-8051-298602331467}"/>
              </a:ext>
            </a:extLst>
          </p:cNvPr>
          <p:cNvSpPr>
            <a:spLocks noGrp="1"/>
          </p:cNvSpPr>
          <p:nvPr/>
        </p:nvSpPr>
        <p:spPr>
          <a:xfrm>
            <a:off x="4819650" y="21526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8686F8E-4C4F-47E0-A8F7-4B12DE7F562F}"/>
              </a:ext>
            </a:extLst>
          </p:cNvPr>
          <p:cNvSpPr>
            <a:spLocks noGrp="1"/>
          </p:cNvSpPr>
          <p:nvPr/>
        </p:nvSpPr>
        <p:spPr>
          <a:xfrm>
            <a:off x="5086350" y="1619250"/>
            <a:ext cx="1885950" cy="13525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F6B0487-0903-4451-9937-C2A3399556C3}"/>
              </a:ext>
            </a:extLst>
          </p:cNvPr>
          <p:cNvSpPr>
            <a:spLocks noGrp="1"/>
          </p:cNvSpPr>
          <p:nvPr/>
        </p:nvSpPr>
        <p:spPr>
          <a:xfrm>
            <a:off x="5219700" y="17526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6447246-BD00-44EC-9FAC-DA37DD355744}"/>
              </a:ext>
            </a:extLst>
          </p:cNvPr>
          <p:cNvSpPr>
            <a:spLocks noGrp="1"/>
          </p:cNvSpPr>
          <p:nvPr/>
        </p:nvSpPr>
        <p:spPr>
          <a:xfrm>
            <a:off x="5219700" y="21145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量盒子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D4FF981-1201-4A36-BAD8-BA4F863318DE}"/>
              </a:ext>
            </a:extLst>
          </p:cNvPr>
          <p:cNvSpPr>
            <a:spLocks noGrp="1"/>
          </p:cNvSpPr>
          <p:nvPr/>
        </p:nvSpPr>
        <p:spPr>
          <a:xfrm>
            <a:off x="5219700" y="2571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Computed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E4F9322-EEBB-4325-9C91-DB0FBC1BD069}"/>
              </a:ext>
            </a:extLst>
          </p:cNvPr>
          <p:cNvSpPr>
            <a:spLocks noGrp="1"/>
          </p:cNvSpPr>
          <p:nvPr/>
        </p:nvSpPr>
        <p:spPr>
          <a:xfrm>
            <a:off x="7010400" y="2295525"/>
            <a:ext cx="1905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AD58F09-8F20-4BD1-9C31-0F78A8A66596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3349199-3F3C-489E-B9E5-4C6B84444634}"/>
              </a:ext>
            </a:extLst>
          </p:cNvPr>
          <p:cNvSpPr>
            <a:spLocks noGrp="1"/>
          </p:cNvSpPr>
          <p:nvPr/>
        </p:nvSpPr>
        <p:spPr>
          <a:xfrm>
            <a:off x="7410450" y="1619250"/>
            <a:ext cx="1885950" cy="135255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2C73A25-EAC1-4CED-9AC3-462D8435B3F0}"/>
              </a:ext>
            </a:extLst>
          </p:cNvPr>
          <p:cNvSpPr>
            <a:spLocks noGrp="1"/>
          </p:cNvSpPr>
          <p:nvPr/>
        </p:nvSpPr>
        <p:spPr>
          <a:xfrm>
            <a:off x="7543800" y="17526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AFC7F8-062E-42ED-ABFD-A7F0ECBCB469}"/>
              </a:ext>
            </a:extLst>
          </p:cNvPr>
          <p:cNvSpPr>
            <a:spLocks noGrp="1"/>
          </p:cNvSpPr>
          <p:nvPr/>
        </p:nvSpPr>
        <p:spPr>
          <a:xfrm>
            <a:off x="7543800" y="21145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临时改值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4933B2F-92BE-457F-A5EB-B237FB7FF8C3}"/>
              </a:ext>
            </a:extLst>
          </p:cNvPr>
          <p:cNvSpPr>
            <a:spLocks noGrp="1"/>
          </p:cNvSpPr>
          <p:nvPr/>
        </p:nvSpPr>
        <p:spPr>
          <a:xfrm>
            <a:off x="7543800" y="2571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Live edit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FB43C97-DE85-4970-AA62-C1485E0A3016}"/>
              </a:ext>
            </a:extLst>
          </p:cNvPr>
          <p:cNvSpPr>
            <a:spLocks noGrp="1"/>
          </p:cNvSpPr>
          <p:nvPr/>
        </p:nvSpPr>
        <p:spPr>
          <a:xfrm>
            <a:off x="9334500" y="2295525"/>
            <a:ext cx="19050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5D13F43-9B8C-4BE9-9998-B7AE53983F37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207680F-78CC-4DE0-9317-555EE02538FA}"/>
              </a:ext>
            </a:extLst>
          </p:cNvPr>
          <p:cNvSpPr>
            <a:spLocks noGrp="1"/>
          </p:cNvSpPr>
          <p:nvPr/>
        </p:nvSpPr>
        <p:spPr>
          <a:xfrm>
            <a:off x="9734550" y="1619250"/>
            <a:ext cx="1885950" cy="135255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8250D43-1A41-40C3-B09D-A078EE4740E8}"/>
              </a:ext>
            </a:extLst>
          </p:cNvPr>
          <p:cNvSpPr>
            <a:spLocks noGrp="1"/>
          </p:cNvSpPr>
          <p:nvPr/>
        </p:nvSpPr>
        <p:spPr>
          <a:xfrm>
            <a:off x="9867900" y="17526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6F39AA-35E6-469D-B42C-CB1DDC2D51D5}"/>
              </a:ext>
            </a:extLst>
          </p:cNvPr>
          <p:cNvSpPr>
            <a:spLocks noGrp="1"/>
          </p:cNvSpPr>
          <p:nvPr/>
        </p:nvSpPr>
        <p:spPr>
          <a:xfrm>
            <a:off x="9867900" y="21145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写回源码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63E39BA-3766-4363-8700-7EC20BD35829}"/>
              </a:ext>
            </a:extLst>
          </p:cNvPr>
          <p:cNvSpPr>
            <a:spLocks noGrp="1"/>
          </p:cNvSpPr>
          <p:nvPr/>
        </p:nvSpPr>
        <p:spPr>
          <a:xfrm>
            <a:off x="9867900" y="2571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Reinject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ED7CF6F-80E5-4FBC-8B2A-122968A8FDDF}"/>
              </a:ext>
            </a:extLst>
          </p:cNvPr>
          <p:cNvSpPr>
            <a:spLocks noGrp="1"/>
          </p:cNvSpPr>
          <p:nvPr/>
        </p:nvSpPr>
        <p:spPr>
          <a:xfrm>
            <a:off x="742950" y="3657600"/>
            <a:ext cx="4972050" cy="1962150"/>
          </a:xfrm>
          <a:prstGeom prst="rect">
            <a:avLst/>
          </a:prstGeom>
          <a:solidFill>
            <a:srgbClr val="080403"/>
          </a:solidFill>
          <a:ln w="9525">
            <a:solidFill>
              <a:srgbClr val="D95B52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0BF5DAF-6298-4918-9244-CD40347B4716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4972050" cy="9525"/>
          </a:xfrm>
          <a:prstGeom prst="rect">
            <a:avLst/>
          </a:prstGeom>
          <a:solidFill>
            <a:srgbClr val="D95B52"/>
          </a:solidFill>
          <a:ln w="0">
            <a:solidFill>
              <a:srgbClr val="D95B52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C39B1E8-F9F0-4FA9-ACB5-B93FBE8F9932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4705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95B52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95B52"/>
                </a:solidFill>
                <a:latin typeface="Cascadia Mono"/>
                <a:ea typeface="Cascadia Mono"/>
                <a:cs typeface="Cascadia Mono"/>
              </a:rPr>
              <a:t>“改了没反应”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BE7146C-0B58-4FEF-B7DC-211C28A865C1}"/>
              </a:ext>
            </a:extLst>
          </p:cNvPr>
          <p:cNvSpPr>
            <a:spLocks noGrp="1"/>
          </p:cNvSpPr>
          <p:nvPr/>
        </p:nvSpPr>
        <p:spPr>
          <a:xfrm>
            <a:off x="1009650" y="4267200"/>
            <a:ext cx="44386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1. 是否重新注入？</a:t>
            </a:r>
          </a:p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2. 选择器是否命中？</a:t>
            </a:r>
          </a:p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3. 声明是否被划掉？</a:t>
            </a:r>
          </a:p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4. 是否由 runtime 变量控制？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968AACC-2024-453D-828D-10654F39BECF}"/>
              </a:ext>
            </a:extLst>
          </p:cNvPr>
          <p:cNvSpPr>
            <a:spLocks noGrp="1"/>
          </p:cNvSpPr>
          <p:nvPr/>
        </p:nvSpPr>
        <p:spPr>
          <a:xfrm>
            <a:off x="6477000" y="3657600"/>
            <a:ext cx="4972050" cy="19621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5011834-5FE9-4F6B-8CED-33074F3CCABC}"/>
              </a:ext>
            </a:extLst>
          </p:cNvPr>
          <p:cNvSpPr>
            <a:spLocks noGrp="1"/>
          </p:cNvSpPr>
          <p:nvPr/>
        </p:nvSpPr>
        <p:spPr>
          <a:xfrm>
            <a:off x="6477000" y="4019550"/>
            <a:ext cx="497205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888E85E-94D9-4E1C-B9F3-B80094750ACE}"/>
              </a:ext>
            </a:extLst>
          </p:cNvPr>
          <p:cNvSpPr>
            <a:spLocks noGrp="1"/>
          </p:cNvSpPr>
          <p:nvPr/>
        </p:nvSpPr>
        <p:spPr>
          <a:xfrm>
            <a:off x="6610350" y="3733800"/>
            <a:ext cx="4705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“框线错位”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3E33DA1-7538-4ABB-997D-1AA2A26BDBCF}"/>
              </a:ext>
            </a:extLst>
          </p:cNvPr>
          <p:cNvSpPr>
            <a:spLocks noGrp="1"/>
          </p:cNvSpPr>
          <p:nvPr/>
        </p:nvSpPr>
        <p:spPr>
          <a:xfrm>
            <a:off x="6743700" y="4267200"/>
            <a:ext cx="44386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1. box-sizing 是否为 border-box？</a:t>
            </a:r>
          </a:p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2. width:100% 是否叠加 padding？</a:t>
            </a:r>
          </a:p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3. fixed 坐标是否扣除边框？</a:t>
            </a:r>
          </a:p>
          <a:p>
            <a:pPr algn="l">
              <a:def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4. title 高度是否同步到 JS？</a:t>
            </a:r>
          </a:p>
        </p:txBody>
      </p:sp>
    </p:spTree>
    <p:extLst>
      <p:ext uri="{BB962C8B-B14F-4D97-AF65-F5344CB8AC3E}">
        <p14:creationId xmlns:p14="http://schemas.microsoft.com/office/powerpoint/2010/main" val="834670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B20B7F55-286F-4569-89C7-E242579104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84773548-64D0-48EC-B550-E65FC818D664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BC2B04EB-A5C5-489F-9269-9B64C4FF5B95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7DBB7410-1309-4AA3-9FE5-195128851BF7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57FA78AB-6957-455C-98BA-04B46C75197B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7B924FFF-938C-444A-82BF-B89F0E8699F6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8D2F10E1-7E29-4549-B091-25E475EE8713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6018AA84-B407-43EC-9AFB-3C6E821144A4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2922CCF8-F404-4820-83BF-090429AEED05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718551C9-93D1-4458-AEC3-9394D2EE3A8C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3D9BA261-8334-4317-9742-813BCB06ECED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10AE73A2-8A5A-4E16-9794-E0918FD74F27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107FB249-1444-473F-847E-59779F5A5FB4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26A38B21-4F2C-4322-9437-654CFA874D51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DA1FED9A-8059-4319-A54E-0531DC65DB8E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81DAEEA1-0BA5-41D1-BA89-D5CCFC34AA42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308B7C79-1AD4-47B7-91B1-D4CBAE238BE6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F6320B0D-426C-4D86-9A19-C390694B37E5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05224F26-4D7F-4069-A9B6-E64E1993DB32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6-marker">
            <a:extLst>
              <a:ext uri="{FF2B5EF4-FFF2-40B4-BE49-F238E27FC236}">
                <a16:creationId xmlns:a16="http://schemas.microsoft.com/office/drawing/2014/main" id="{5A97BAF2-0398-4EAD-BCC0-2747138E2FDE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6-label">
            <a:extLst>
              <a:ext uri="{FF2B5EF4-FFF2-40B4-BE49-F238E27FC236}">
                <a16:creationId xmlns:a16="http://schemas.microsoft.com/office/drawing/2014/main" id="{B1D08D18-82B0-4B8B-9CDD-3125663CE0AD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16.LAB_01</a:t>
            </a:r>
          </a:p>
        </p:txBody>
      </p:sp>
      <p:sp>
        <p:nvSpPr>
          <p:cNvPr id="22" name="slide-16-title">
            <a:extLst>
              <a:ext uri="{FF2B5EF4-FFF2-40B4-BE49-F238E27FC236}">
                <a16:creationId xmlns:a16="http://schemas.microsoft.com/office/drawing/2014/main" id="{C9523020-CEB4-47F7-B043-671B017B968C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改一个 token，先预测两个视觉结果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D6800F19-9908-4F06-A863-F19414848BB8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8EC117AF-4E25-41BC-A3E7-1759835E10E2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9D9FF11E-3C6D-4B2C-8703-6EACFFD952C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2F1093-0F24-47DD-9099-073EAE38F6C7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5257800" cy="914400"/>
          </a:xfrm>
          <a:prstGeom prst="rect">
            <a:avLst/>
          </a:prstGeom>
          <a:solidFill>
            <a:srgbClr val="080403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472E0D-285E-45C3-A578-0FC9463453F9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CHANGE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3E1AC6-6457-4254-B722-96FA71867FC5}"/>
              </a:ext>
            </a:extLst>
          </p:cNvPr>
          <p:cNvSpPr>
            <a:spLocks noGrp="1"/>
          </p:cNvSpPr>
          <p:nvPr/>
        </p:nvSpPr>
        <p:spPr>
          <a:xfrm>
            <a:off x="762000" y="1647825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--dream-token-layout-panel-gap: 8px;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B960CC-8761-429E-941E-40D0FA48060D}"/>
              </a:ext>
            </a:extLst>
          </p:cNvPr>
          <p:cNvSpPr>
            <a:spLocks noGrp="1"/>
          </p:cNvSpPr>
          <p:nvPr/>
        </p:nvSpPr>
        <p:spPr>
          <a:xfrm>
            <a:off x="695325" y="1971675"/>
            <a:ext cx="5086350" cy="323850"/>
          </a:xfrm>
          <a:prstGeom prst="rect">
            <a:avLst/>
          </a:prstGeom>
          <a:solidFill>
            <a:srgbClr val="120804"/>
          </a:solidFill>
          <a:ln w="9525">
            <a:solidFill>
              <a:srgbClr val="4D2A0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DB8B287-6FF1-45BC-96D3-AF33C65EE826}"/>
              </a:ext>
            </a:extLst>
          </p:cNvPr>
          <p:cNvSpPr>
            <a:spLocks noGrp="1"/>
          </p:cNvSpPr>
          <p:nvPr/>
        </p:nvSpPr>
        <p:spPr>
          <a:xfrm>
            <a:off x="762000" y="1990725"/>
            <a:ext cx="4953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--dream-token-layout-panel-gap: 12px;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F07497-6CEA-49D3-9F8D-5F42EFC33830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4953000" cy="2724150"/>
          </a:xfrm>
          <a:prstGeom prst="rect">
            <a:avLst/>
          </a:prstGeom>
          <a:solidFill>
            <a:srgbClr val="080403"/>
          </a:solidFill>
          <a:ln w="9525">
            <a:solidFill>
              <a:srgbClr val="C37412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3E232A9-4C32-4E58-9CB6-C82B8F05717C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4953000" cy="9525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76D61F7-ECAA-4516-917D-EAAE0AD75801}"/>
              </a:ext>
            </a:extLst>
          </p:cNvPr>
          <p:cNvSpPr>
            <a:spLocks noGrp="1"/>
          </p:cNvSpPr>
          <p:nvPr/>
        </p:nvSpPr>
        <p:spPr>
          <a:xfrm>
            <a:off x="742950" y="2800350"/>
            <a:ext cx="468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BEFORE / 8PX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C6C3771-F9EB-43CB-9F62-AF67DB411BF3}"/>
              </a:ext>
            </a:extLst>
          </p:cNvPr>
          <p:cNvSpPr>
            <a:spLocks noGrp="1"/>
          </p:cNvSpPr>
          <p:nvPr/>
        </p:nvSpPr>
        <p:spPr>
          <a:xfrm>
            <a:off x="990600" y="3352800"/>
            <a:ext cx="4191000" cy="704850"/>
          </a:xfrm>
          <a:prstGeom prst="rect">
            <a:avLst/>
          </a:prstGeom>
          <a:solidFill>
            <a:srgbClr val="120804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BACBFE3-75C2-4D3A-A164-FEB54D3B21AE}"/>
              </a:ext>
            </a:extLst>
          </p:cNvPr>
          <p:cNvSpPr>
            <a:spLocks noGrp="1"/>
          </p:cNvSpPr>
          <p:nvPr/>
        </p:nvSpPr>
        <p:spPr>
          <a:xfrm>
            <a:off x="1162050" y="3562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01.NAVIGATION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EB9811-C42C-40F5-A3AA-9DC395031845}"/>
              </a:ext>
            </a:extLst>
          </p:cNvPr>
          <p:cNvSpPr>
            <a:spLocks noGrp="1"/>
          </p:cNvSpPr>
          <p:nvPr/>
        </p:nvSpPr>
        <p:spPr>
          <a:xfrm>
            <a:off x="990600" y="4133850"/>
            <a:ext cx="4191000" cy="990600"/>
          </a:xfrm>
          <a:prstGeom prst="rect">
            <a:avLst/>
          </a:prstGeom>
          <a:solidFill>
            <a:srgbClr val="120804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A9E4724-132F-4D6A-84F6-90092749FC73}"/>
              </a:ext>
            </a:extLst>
          </p:cNvPr>
          <p:cNvSpPr>
            <a:spLocks noGrp="1"/>
          </p:cNvSpPr>
          <p:nvPr/>
        </p:nvSpPr>
        <p:spPr>
          <a:xfrm>
            <a:off x="1162050" y="4381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02.PROJECTS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0F85A78-E657-4DE2-96BC-B61344C27FAE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4953000" cy="27241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568ABA-581C-424D-8493-A922D4599B3B}"/>
              </a:ext>
            </a:extLst>
          </p:cNvPr>
          <p:cNvSpPr>
            <a:spLocks noGrp="1"/>
          </p:cNvSpPr>
          <p:nvPr/>
        </p:nvSpPr>
        <p:spPr>
          <a:xfrm>
            <a:off x="6629400" y="3086100"/>
            <a:ext cx="495300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E0C6A80-7656-4CE1-8EDD-89D86148347B}"/>
              </a:ext>
            </a:extLst>
          </p:cNvPr>
          <p:cNvSpPr>
            <a:spLocks noGrp="1"/>
          </p:cNvSpPr>
          <p:nvPr/>
        </p:nvSpPr>
        <p:spPr>
          <a:xfrm>
            <a:off x="6762750" y="2800350"/>
            <a:ext cx="468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AFTER / 12PX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D45CA7-C16D-4EAC-B1AA-D9004718520E}"/>
              </a:ext>
            </a:extLst>
          </p:cNvPr>
          <p:cNvSpPr>
            <a:spLocks noGrp="1"/>
          </p:cNvSpPr>
          <p:nvPr/>
        </p:nvSpPr>
        <p:spPr>
          <a:xfrm>
            <a:off x="7010400" y="3352800"/>
            <a:ext cx="4191000" cy="704850"/>
          </a:xfrm>
          <a:prstGeom prst="rect">
            <a:avLst/>
          </a:prstGeom>
          <a:solidFill>
            <a:srgbClr val="120804"/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75E6D3E-3A2D-449B-8315-6E2D0699F927}"/>
              </a:ext>
            </a:extLst>
          </p:cNvPr>
          <p:cNvSpPr>
            <a:spLocks noGrp="1"/>
          </p:cNvSpPr>
          <p:nvPr/>
        </p:nvSpPr>
        <p:spPr>
          <a:xfrm>
            <a:off x="7181850" y="3562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01.NAVIGATION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F030007-6BA1-4DDD-97C1-1D8FA878796A}"/>
              </a:ext>
            </a:extLst>
          </p:cNvPr>
          <p:cNvSpPr>
            <a:spLocks noGrp="1"/>
          </p:cNvSpPr>
          <p:nvPr/>
        </p:nvSpPr>
        <p:spPr>
          <a:xfrm>
            <a:off x="7010400" y="4171950"/>
            <a:ext cx="4191000" cy="952500"/>
          </a:xfrm>
          <a:prstGeom prst="rect">
            <a:avLst/>
          </a:prstGeom>
          <a:solidFill>
            <a:srgbClr val="120804"/>
          </a:solidFill>
          <a:ln w="19050">
            <a:solidFill>
              <a:srgbClr val="49B81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52A1D47-34DB-455B-B75C-F3C956A7C2FB}"/>
              </a:ext>
            </a:extLst>
          </p:cNvPr>
          <p:cNvSpPr>
            <a:spLocks noGrp="1"/>
          </p:cNvSpPr>
          <p:nvPr/>
        </p:nvSpPr>
        <p:spPr>
          <a:xfrm>
            <a:off x="7181850" y="4419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02.PROJECTS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E09679F-5902-4DAC-BF61-0C3584FA37B2}"/>
              </a:ext>
            </a:extLst>
          </p:cNvPr>
          <p:cNvSpPr>
            <a:spLocks noGrp="1"/>
          </p:cNvSpPr>
          <p:nvPr/>
        </p:nvSpPr>
        <p:spPr>
          <a:xfrm>
            <a:off x="1714500" y="58293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rPr>
              <a:t>预测：模块距离 +4px；02 可用高度相应减少。</a:t>
            </a:r>
          </a:p>
        </p:txBody>
      </p:sp>
    </p:spTree>
    <p:extLst>
      <p:ext uri="{BB962C8B-B14F-4D97-AF65-F5344CB8AC3E}">
        <p14:creationId xmlns:p14="http://schemas.microsoft.com/office/powerpoint/2010/main" val="2108149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5E035065-560D-4C32-9157-C8AB3A1CD8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8E0247D9-A69C-49EA-81B0-0E8D0971C381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21DB6926-35D2-4961-A068-2E25B11CCE18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ED59A494-87D0-49F8-91AB-FEF9086B18E7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1E4BCA2D-B006-4B32-A03E-D4ACA0D7F0AF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7F434F04-9274-4D32-8E8B-805CAE4A239A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C0B41E89-485F-4EFB-B13A-499BA8EAAA84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49A7453D-0C8C-4740-A03E-D382262AB87E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9F998418-3295-4D2C-ACF0-01B97E362199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7CDAE90C-EDEA-47B4-8FA3-97669361E6FA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3F40F921-DDBA-486A-88B9-A912CA8FB323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84677E51-25C6-4BF7-8360-5C5B69ABABAB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3E2F3736-D5D1-4141-8DE4-36FB4BAF180F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7840D9F5-083F-4071-A2AB-5EF027586370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F4F60A2A-F494-4922-9A12-FE153DB338E1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20B9C527-09F0-449B-BD72-C35CAEE81EE7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6AF42BE9-9F3F-4159-90E9-215BC5182C16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A805EE76-9E93-4072-B65A-8B0D2DB0E103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36206E7A-C592-4439-A70B-A5A5390FD8CC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7-marker">
            <a:extLst>
              <a:ext uri="{FF2B5EF4-FFF2-40B4-BE49-F238E27FC236}">
                <a16:creationId xmlns:a16="http://schemas.microsoft.com/office/drawing/2014/main" id="{F2BBC1EB-4578-4EB9-8672-28C2425566B7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7-label">
            <a:extLst>
              <a:ext uri="{FF2B5EF4-FFF2-40B4-BE49-F238E27FC236}">
                <a16:creationId xmlns:a16="http://schemas.microsoft.com/office/drawing/2014/main" id="{B1B44E14-A3C9-438D-B5CB-117D39E5B39C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17.LAB_02</a:t>
            </a:r>
          </a:p>
        </p:txBody>
      </p:sp>
      <p:sp>
        <p:nvSpPr>
          <p:cNvPr id="22" name="slide-17-title">
            <a:extLst>
              <a:ext uri="{FF2B5EF4-FFF2-40B4-BE49-F238E27FC236}">
                <a16:creationId xmlns:a16="http://schemas.microsoft.com/office/drawing/2014/main" id="{7B5FE274-410C-4CF6-A8A0-413D815A25FD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只取消一条边，不要误删整圈框线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42D8FB57-D19A-429E-8285-C6BFBBB2BA17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B9C9C296-2AE2-4AC5-97EE-1189C981C6F7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60F675E1-E6EB-46D6-BD3D-FFCA4742120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E5AD48-2F82-416B-AF93-D04CD70C26B9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3448050" cy="352425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4EFDF1-953A-4DC8-996E-D7FF1D2FEDD3}"/>
              </a:ext>
            </a:extLst>
          </p:cNvPr>
          <p:cNvSpPr>
            <a:spLocks noGrp="1"/>
          </p:cNvSpPr>
          <p:nvPr/>
        </p:nvSpPr>
        <p:spPr>
          <a:xfrm>
            <a:off x="514350" y="1828800"/>
            <a:ext cx="344805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5ADFFD8-F021-4E13-97FC-319C10FF10B7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FULL BORDER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D0525D-464A-46DA-9AF2-582912309C4F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2114550" cy="1200150"/>
          </a:xfrm>
          <a:prstGeom prst="rect">
            <a:avLst/>
          </a:prstGeom>
          <a:solidFill>
            <a:srgbClr val="120804"/>
          </a:solidFill>
          <a:ln w="38100">
            <a:solidFill>
              <a:srgbClr val="D7AD5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BAE67D-D8E3-47EC-A3A8-3C266FC6296B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BOX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902E62-C813-4646-970C-2457E5DCDABA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914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border: 2px solid;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50FCA67-AC34-45C5-9480-53FDEA9EBE51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2914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占空间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FABCA3B-CDA0-48E6-8D47-CBE92FA6F1F0}"/>
              </a:ext>
            </a:extLst>
          </p:cNvPr>
          <p:cNvSpPr>
            <a:spLocks noGrp="1"/>
          </p:cNvSpPr>
          <p:nvPr/>
        </p:nvSpPr>
        <p:spPr>
          <a:xfrm>
            <a:off x="4343400" y="1466850"/>
            <a:ext cx="3448050" cy="352425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48639FD-5304-4FC0-BA0D-D5696D00F1B4}"/>
              </a:ext>
            </a:extLst>
          </p:cNvPr>
          <p:cNvSpPr>
            <a:spLocks noGrp="1"/>
          </p:cNvSpPr>
          <p:nvPr/>
        </p:nvSpPr>
        <p:spPr>
          <a:xfrm>
            <a:off x="4343400" y="1828800"/>
            <a:ext cx="344805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86B8A10-D2C3-4A3E-BF13-E5AB0E735B1E}"/>
              </a:ext>
            </a:extLst>
          </p:cNvPr>
          <p:cNvSpPr>
            <a:spLocks noGrp="1"/>
          </p:cNvSpPr>
          <p:nvPr/>
        </p:nvSpPr>
        <p:spPr>
          <a:xfrm>
            <a:off x="4476750" y="154305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RIGHT OFF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CD3EE2D-BE52-4326-87CA-1282E90F49F5}"/>
              </a:ext>
            </a:extLst>
          </p:cNvPr>
          <p:cNvSpPr>
            <a:spLocks noGrp="1"/>
          </p:cNvSpPr>
          <p:nvPr/>
        </p:nvSpPr>
        <p:spPr>
          <a:xfrm>
            <a:off x="5010150" y="2343150"/>
            <a:ext cx="2114550" cy="1200150"/>
          </a:xfrm>
          <a:prstGeom prst="rect">
            <a:avLst/>
          </a:prstGeom>
          <a:solidFill>
            <a:srgbClr val="120804"/>
          </a:solidFill>
          <a:ln w="38100">
            <a:solidFill>
              <a:srgbClr val="49B81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2A8AD40-E16E-4815-8215-F8E464254208}"/>
              </a:ext>
            </a:extLst>
          </p:cNvPr>
          <p:cNvSpPr>
            <a:spLocks noGrp="1"/>
          </p:cNvSpPr>
          <p:nvPr/>
        </p:nvSpPr>
        <p:spPr>
          <a:xfrm>
            <a:off x="7086600" y="2343150"/>
            <a:ext cx="57150" cy="1200150"/>
          </a:xfrm>
          <a:prstGeom prst="rect">
            <a:avLst/>
          </a:prstGeom>
          <a:solidFill>
            <a:srgbClr val="120804"/>
          </a:solidFill>
          <a:ln w="0">
            <a:solidFill>
              <a:srgbClr val="120804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D013F8D-CDF5-4222-839F-AEA526F3016E}"/>
              </a:ext>
            </a:extLst>
          </p:cNvPr>
          <p:cNvSpPr>
            <a:spLocks noGrp="1"/>
          </p:cNvSpPr>
          <p:nvPr/>
        </p:nvSpPr>
        <p:spPr>
          <a:xfrm>
            <a:off x="5010150" y="27241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BOX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CFA9AF-0709-4250-B1B1-805EF2E02D9A}"/>
              </a:ext>
            </a:extLst>
          </p:cNvPr>
          <p:cNvSpPr>
            <a:spLocks noGrp="1"/>
          </p:cNvSpPr>
          <p:nvPr/>
        </p:nvSpPr>
        <p:spPr>
          <a:xfrm>
            <a:off x="4610100" y="4000500"/>
            <a:ext cx="2914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border-right: none;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6DB0195-CDD5-40F0-84D5-D817CF845A63}"/>
              </a:ext>
            </a:extLst>
          </p:cNvPr>
          <p:cNvSpPr>
            <a:spLocks noGrp="1"/>
          </p:cNvSpPr>
          <p:nvPr/>
        </p:nvSpPr>
        <p:spPr>
          <a:xfrm>
            <a:off x="4610100" y="4476750"/>
            <a:ext cx="2914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只移除右边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A8C2A05-50CC-468F-85E8-CD39E8E28C7A}"/>
              </a:ext>
            </a:extLst>
          </p:cNvPr>
          <p:cNvSpPr>
            <a:spLocks noGrp="1"/>
          </p:cNvSpPr>
          <p:nvPr/>
        </p:nvSpPr>
        <p:spPr>
          <a:xfrm>
            <a:off x="8172450" y="1466850"/>
            <a:ext cx="3448050" cy="3524250"/>
          </a:xfrm>
          <a:prstGeom prst="rect">
            <a:avLst/>
          </a:prstGeom>
          <a:solidFill>
            <a:srgbClr val="080403"/>
          </a:solidFill>
          <a:ln w="9525">
            <a:solidFill>
              <a:srgbClr val="B8A477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3A7338A-CE4B-4627-BC09-4EB183C18348}"/>
              </a:ext>
            </a:extLst>
          </p:cNvPr>
          <p:cNvSpPr>
            <a:spLocks noGrp="1"/>
          </p:cNvSpPr>
          <p:nvPr/>
        </p:nvSpPr>
        <p:spPr>
          <a:xfrm>
            <a:off x="8172450" y="1828800"/>
            <a:ext cx="3448050" cy="9525"/>
          </a:xfrm>
          <a:prstGeom prst="rect">
            <a:avLst/>
          </a:prstGeom>
          <a:solidFill>
            <a:srgbClr val="B8A477"/>
          </a:solidFill>
          <a:ln w="0">
            <a:solidFill>
              <a:srgbClr val="B8A477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5505D03-6892-4E1A-8B2D-85FF1477B033}"/>
              </a:ext>
            </a:extLst>
          </p:cNvPr>
          <p:cNvSpPr>
            <a:spLocks noGrp="1"/>
          </p:cNvSpPr>
          <p:nvPr/>
        </p:nvSpPr>
        <p:spPr>
          <a:xfrm>
            <a:off x="8305800" y="1543050"/>
            <a:ext cx="3181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INSET FRAME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1CBC072-13F5-4264-9ADC-1A90305401E5}"/>
              </a:ext>
            </a:extLst>
          </p:cNvPr>
          <p:cNvSpPr>
            <a:spLocks noGrp="1"/>
          </p:cNvSpPr>
          <p:nvPr/>
        </p:nvSpPr>
        <p:spPr>
          <a:xfrm>
            <a:off x="8839200" y="2343150"/>
            <a:ext cx="2114550" cy="1200150"/>
          </a:xfrm>
          <a:prstGeom prst="rect">
            <a:avLst/>
          </a:prstGeom>
          <a:solidFill>
            <a:srgbClr val="120804"/>
          </a:solidFill>
          <a:ln w="0">
            <a:solidFill>
              <a:srgbClr val="080403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E695B27-D83F-4296-856E-6417BC768D20}"/>
              </a:ext>
            </a:extLst>
          </p:cNvPr>
          <p:cNvSpPr>
            <a:spLocks noGrp="1"/>
          </p:cNvSpPr>
          <p:nvPr/>
        </p:nvSpPr>
        <p:spPr>
          <a:xfrm>
            <a:off x="8877300" y="2381250"/>
            <a:ext cx="20383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9B81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65449C2-8811-483D-B20A-24C460905187}"/>
              </a:ext>
            </a:extLst>
          </p:cNvPr>
          <p:cNvSpPr>
            <a:spLocks noGrp="1"/>
          </p:cNvSpPr>
          <p:nvPr/>
        </p:nvSpPr>
        <p:spPr>
          <a:xfrm>
            <a:off x="8839200" y="2724150"/>
            <a:ext cx="2114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BOX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31922A7-363C-4C01-B09D-374FEDBEBD47}"/>
              </a:ext>
            </a:extLst>
          </p:cNvPr>
          <p:cNvSpPr>
            <a:spLocks noGrp="1"/>
          </p:cNvSpPr>
          <p:nvPr/>
        </p:nvSpPr>
        <p:spPr>
          <a:xfrm>
            <a:off x="8439150" y="4000500"/>
            <a:ext cx="2914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box-shadow: inset ...;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E5C1037-0068-491A-BDE8-AAD752D01033}"/>
              </a:ext>
            </a:extLst>
          </p:cNvPr>
          <p:cNvSpPr>
            <a:spLocks noGrp="1"/>
          </p:cNvSpPr>
          <p:nvPr/>
        </p:nvSpPr>
        <p:spPr>
          <a:xfrm>
            <a:off x="8439150" y="4476750"/>
            <a:ext cx="2914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B8A477"/>
                </a:solidFill>
                <a:latin typeface="Microsoft YaHei UI"/>
                <a:ea typeface="Microsoft YaHei UI"/>
                <a:cs typeface="Microsoft YaHei UI"/>
              </a:rPr>
              <a:t>不改变盒尺寸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9DE2027-76E4-493B-B30E-8688FEEF1638}"/>
              </a:ext>
            </a:extLst>
          </p:cNvPr>
          <p:cNvSpPr>
            <a:spLocks noGrp="1"/>
          </p:cNvSpPr>
          <p:nvPr/>
        </p:nvSpPr>
        <p:spPr>
          <a:xfrm>
            <a:off x="1333500" y="5543550"/>
            <a:ext cx="952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D7AD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D7AD55"/>
                </a:solidFill>
                <a:latin typeface="Microsoft YaHei UI"/>
                <a:ea typeface="Microsoft YaHei UI"/>
                <a:cs typeface="Microsoft YaHei UI"/>
              </a:rPr>
              <a:t>问题：什么时候 border 与 inset shadow 会导致 2–4px 的布局差？</a:t>
            </a:r>
          </a:p>
        </p:txBody>
      </p:sp>
    </p:spTree>
    <p:extLst>
      <p:ext uri="{BB962C8B-B14F-4D97-AF65-F5344CB8AC3E}">
        <p14:creationId xmlns:p14="http://schemas.microsoft.com/office/powerpoint/2010/main" val="1498401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background">
            <a:extLst>
              <a:ext uri="{FF2B5EF4-FFF2-40B4-BE49-F238E27FC236}">
                <a16:creationId xmlns:a16="http://schemas.microsoft.com/office/drawing/2014/main" id="{B8DFF47D-BBC7-43C6-A457-A0E8F86A91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8F3C8D2F-E067-460D-8D6D-0E1A59E99E47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B7E434F7-6B79-4BE5-A2B1-1F871BC17ED6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B04DC79C-ABAF-4E49-B7E5-6D715BAD1929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7D3386A1-46C3-48C3-92E8-02A8877ED344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C80AFF36-A1CE-4A59-9022-09C5D4877F54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787E9DC2-4EB4-4D29-A5DC-704855901310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4CE45FD9-AC1D-4026-9D4B-79B0082DEFCD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98572AA1-0095-48E8-BB8E-1A84D86E8040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5D01F47E-B368-4AEC-9012-CD18B7600E6F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B443B4B0-203D-40B9-840D-A5D889D5A16F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B955D54E-C53C-48F5-94A3-2DCDB87C5731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59BB18FD-E6C8-4A04-BE48-25CDEC21B0B2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4C41EA8D-D2E4-4876-9244-D2348012D940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227290FF-456F-406C-8250-330532941524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314B1392-4AC2-41A8-97B8-E1E692D0D924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A656B6B8-A4CB-4214-959C-EB80FF1C0BEF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F262EC30-EF17-4798-A2C2-1A81A23D9F59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881E2246-437A-42F1-B304-4E139EF1E224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8-marker">
            <a:extLst>
              <a:ext uri="{FF2B5EF4-FFF2-40B4-BE49-F238E27FC236}">
                <a16:creationId xmlns:a16="http://schemas.microsoft.com/office/drawing/2014/main" id="{9D5CBF1A-7979-4A35-BCCE-92EF33FDAC8F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8-label">
            <a:extLst>
              <a:ext uri="{FF2B5EF4-FFF2-40B4-BE49-F238E27FC236}">
                <a16:creationId xmlns:a16="http://schemas.microsoft.com/office/drawing/2014/main" id="{4C8707EC-73CC-4FD8-A618-628C5041AE24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18.LAB_03</a:t>
            </a:r>
          </a:p>
        </p:txBody>
      </p:sp>
      <p:sp>
        <p:nvSpPr>
          <p:cNvPr id="22" name="slide-18-title">
            <a:extLst>
              <a:ext uri="{FF2B5EF4-FFF2-40B4-BE49-F238E27FC236}">
                <a16:creationId xmlns:a16="http://schemas.microsoft.com/office/drawing/2014/main" id="{9CC7E8A3-7932-4ED3-81A1-1FD689B74D94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滚动条改到哪一步，才需要进入 JavaScript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2DD328C3-E477-4A0D-AADC-8C3E4C8D6741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0B0AA6D9-ED69-44A7-96B7-6BCD5FE2D1DA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FEDB8838-1382-47BE-81CD-E3742EEC0DA2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5C64B1-FD88-4BD8-B435-CBD69D8F16F4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4876800" cy="41529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C39E7D-0441-452D-B3FC-147189496F64}"/>
              </a:ext>
            </a:extLst>
          </p:cNvPr>
          <p:cNvSpPr>
            <a:spLocks noGrp="1"/>
          </p:cNvSpPr>
          <p:nvPr/>
        </p:nvSpPr>
        <p:spPr>
          <a:xfrm>
            <a:off x="514350" y="1771650"/>
            <a:ext cx="487680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F34DF4A-3947-4150-8784-59F883D1E5F6}"/>
              </a:ext>
            </a:extLst>
          </p:cNvPr>
          <p:cNvSpPr>
            <a:spLocks noGrp="1"/>
          </p:cNvSpPr>
          <p:nvPr/>
        </p:nvSpPr>
        <p:spPr>
          <a:xfrm>
            <a:off x="647700" y="1485900"/>
            <a:ext cx="461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CSS / APPEARANCE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A8A269-FC88-41EF-A256-E81B4D6516B5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1714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6C5EF4-DDB8-4B7D-9D78-188FA9B2FDE6}"/>
              </a:ext>
            </a:extLst>
          </p:cNvPr>
          <p:cNvSpPr>
            <a:spLocks noGrp="1"/>
          </p:cNvSpPr>
          <p:nvPr/>
        </p:nvSpPr>
        <p:spPr>
          <a:xfrm>
            <a:off x="1104900" y="19812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--layout-scrollbar: 8px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5DDDB90-1D86-40C8-9E6F-25F272BD6753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1714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CB34E9-71A8-4937-BA1B-171F8C0BE611}"/>
              </a:ext>
            </a:extLst>
          </p:cNvPr>
          <p:cNvSpPr>
            <a:spLocks noGrp="1"/>
          </p:cNvSpPr>
          <p:nvPr/>
        </p:nvSpPr>
        <p:spPr>
          <a:xfrm>
            <a:off x="1104900" y="26289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--layout-scrollbar-inset: 4px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53F462-3903-4008-B527-89EFC071FE7A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1714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B2747D-BD75-4E0B-9AD9-91F093557844}"/>
              </a:ext>
            </a:extLst>
          </p:cNvPr>
          <p:cNvSpPr>
            <a:spLocks noGrp="1"/>
          </p:cNvSpPr>
          <p:nvPr/>
        </p:nvSpPr>
        <p:spPr>
          <a:xfrm>
            <a:off x="1104900" y="32766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track / thumb color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5406E95-6646-4FDC-8D55-671221FA129B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171450" cy="2857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B9D95C-A495-4ADD-AE4C-018CEF2FFFFC}"/>
              </a:ext>
            </a:extLst>
          </p:cNvPr>
          <p:cNvSpPr>
            <a:spLocks noGrp="1"/>
          </p:cNvSpPr>
          <p:nvPr/>
        </p:nvSpPr>
        <p:spPr>
          <a:xfrm>
            <a:off x="1104900" y="39243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border / radius / cursor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76EF2CC-3E3B-4D8D-88BC-116B63E39197}"/>
              </a:ext>
            </a:extLst>
          </p:cNvPr>
          <p:cNvSpPr>
            <a:spLocks noGrp="1"/>
          </p:cNvSpPr>
          <p:nvPr/>
        </p:nvSpPr>
        <p:spPr>
          <a:xfrm>
            <a:off x="6800850" y="1409700"/>
            <a:ext cx="4876800" cy="41529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C78B5E-8E9C-43E6-B662-4D1DB964D2BE}"/>
              </a:ext>
            </a:extLst>
          </p:cNvPr>
          <p:cNvSpPr>
            <a:spLocks noGrp="1"/>
          </p:cNvSpPr>
          <p:nvPr/>
        </p:nvSpPr>
        <p:spPr>
          <a:xfrm>
            <a:off x="6800850" y="1771650"/>
            <a:ext cx="487680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254ED54-7F7F-490C-B7E6-7AB6AF2A8088}"/>
              </a:ext>
            </a:extLst>
          </p:cNvPr>
          <p:cNvSpPr>
            <a:spLocks noGrp="1"/>
          </p:cNvSpPr>
          <p:nvPr/>
        </p:nvSpPr>
        <p:spPr>
          <a:xfrm>
            <a:off x="6934200" y="1485900"/>
            <a:ext cx="461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JAVASCRIPT / BEHAVIOR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62AB3F8-746D-4778-B1F7-8699F28397B4}"/>
              </a:ext>
            </a:extLst>
          </p:cNvPr>
          <p:cNvSpPr>
            <a:spLocks noGrp="1"/>
          </p:cNvSpPr>
          <p:nvPr/>
        </p:nvSpPr>
        <p:spPr>
          <a:xfrm>
            <a:off x="7067550" y="2133600"/>
            <a:ext cx="171450" cy="2857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94E7D47-AE92-4E40-8D51-F113472C3472}"/>
              </a:ext>
            </a:extLst>
          </p:cNvPr>
          <p:cNvSpPr>
            <a:spLocks noGrp="1"/>
          </p:cNvSpPr>
          <p:nvPr/>
        </p:nvSpPr>
        <p:spPr>
          <a:xfrm>
            <a:off x="7391400" y="19812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minimum thumb = 32px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E19BD67-2D44-4251-8559-7458FB676E09}"/>
              </a:ext>
            </a:extLst>
          </p:cNvPr>
          <p:cNvSpPr>
            <a:spLocks noGrp="1"/>
          </p:cNvSpPr>
          <p:nvPr/>
        </p:nvSpPr>
        <p:spPr>
          <a:xfrm>
            <a:off x="7067550" y="2781300"/>
            <a:ext cx="171450" cy="2857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ECE1437-003C-4DEC-82D2-FDF412BAC8E5}"/>
              </a:ext>
            </a:extLst>
          </p:cNvPr>
          <p:cNvSpPr>
            <a:spLocks noGrp="1"/>
          </p:cNvSpPr>
          <p:nvPr/>
        </p:nvSpPr>
        <p:spPr>
          <a:xfrm>
            <a:off x="7391400" y="26289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page step = clientHeight × .85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EF0B11-5C5E-4E59-A309-767C6670846F}"/>
              </a:ext>
            </a:extLst>
          </p:cNvPr>
          <p:cNvSpPr>
            <a:spLocks noGrp="1"/>
          </p:cNvSpPr>
          <p:nvPr/>
        </p:nvSpPr>
        <p:spPr>
          <a:xfrm>
            <a:off x="7067550" y="3429000"/>
            <a:ext cx="171450" cy="2857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1F5685C-3A58-4F92-9D64-45DA25F851A7}"/>
              </a:ext>
            </a:extLst>
          </p:cNvPr>
          <p:cNvSpPr>
            <a:spLocks noGrp="1"/>
          </p:cNvSpPr>
          <p:nvPr/>
        </p:nvSpPr>
        <p:spPr>
          <a:xfrm>
            <a:off x="7391400" y="32766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drag mapping formula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9F0ED82-4AD3-4746-8805-F6EE0188C077}"/>
              </a:ext>
            </a:extLst>
          </p:cNvPr>
          <p:cNvSpPr>
            <a:spLocks noGrp="1"/>
          </p:cNvSpPr>
          <p:nvPr/>
        </p:nvSpPr>
        <p:spPr>
          <a:xfrm>
            <a:off x="7067550" y="4076700"/>
            <a:ext cx="171450" cy="2857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163BBB8-538D-4CBB-A088-60C784284FD2}"/>
              </a:ext>
            </a:extLst>
          </p:cNvPr>
          <p:cNvSpPr>
            <a:spLocks noGrp="1"/>
          </p:cNvSpPr>
          <p:nvPr/>
        </p:nvSpPr>
        <p:spPr>
          <a:xfrm>
            <a:off x="7391400" y="3924300"/>
            <a:ext cx="3867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E6D7B0"/>
                </a:solidFill>
                <a:latin typeface="Cascadia Mono"/>
                <a:ea typeface="Cascadia Mono"/>
                <a:cs typeface="Cascadia Mono"/>
              </a:rPr>
              <a:t>wheel interception scope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64DC82E-6F06-4132-B9FB-662B8B02C860}"/>
              </a:ext>
            </a:extLst>
          </p:cNvPr>
          <p:cNvSpPr>
            <a:spLocks noGrp="1"/>
          </p:cNvSpPr>
          <p:nvPr/>
        </p:nvSpPr>
        <p:spPr>
          <a:xfrm>
            <a:off x="5505450" y="3429000"/>
            <a:ext cx="1009650" cy="19050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063E9A4-093D-48C9-82B8-5EBEC36CA43E}"/>
              </a:ext>
            </a:extLst>
          </p:cNvPr>
          <p:cNvSpPr>
            <a:spLocks noGrp="1"/>
          </p:cNvSpPr>
          <p:nvPr/>
        </p:nvSpPr>
        <p:spPr>
          <a:xfrm>
            <a:off x="6457950" y="32861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→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7A8C740-6F01-4DF4-A7EE-E50A4322DD6F}"/>
              </a:ext>
            </a:extLst>
          </p:cNvPr>
          <p:cNvSpPr>
            <a:spLocks noGrp="1"/>
          </p:cNvSpPr>
          <p:nvPr/>
        </p:nvSpPr>
        <p:spPr>
          <a:xfrm>
            <a:off x="1257300" y="5848350"/>
            <a:ext cx="9677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49B81F"/>
                </a:solidFill>
                <a:latin typeface="Microsoft YaHei UI"/>
                <a:ea typeface="Microsoft YaHei UI"/>
                <a:cs typeface="Microsoft YaHei UI"/>
              </a:rPr>
              <a:t>练习：先把宽度改为 10px、内距改为 6px；不要改拖动算法。</a:t>
            </a:r>
          </a:p>
        </p:txBody>
      </p:sp>
    </p:spTree>
    <p:extLst>
      <p:ext uri="{BB962C8B-B14F-4D97-AF65-F5344CB8AC3E}">
        <p14:creationId xmlns:p14="http://schemas.microsoft.com/office/powerpoint/2010/main" val="1780778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background">
            <a:extLst>
              <a:ext uri="{FF2B5EF4-FFF2-40B4-BE49-F238E27FC236}">
                <a16:creationId xmlns:a16="http://schemas.microsoft.com/office/drawing/2014/main" id="{2FDBB655-B9FB-49C3-8FBD-514B154E36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201"/>
          </a:solidFill>
          <a:ln w="0">
            <a:solidFill>
              <a:srgbClr val="030201"/>
            </a:solidFill>
            <a:prstDash val="solid"/>
          </a:ln>
        </p:spPr>
      </p:sp>
      <p:sp>
        <p:nvSpPr>
          <p:cNvPr id="2" name="grid-v-80">
            <a:extLst>
              <a:ext uri="{FF2B5EF4-FFF2-40B4-BE49-F238E27FC236}">
                <a16:creationId xmlns:a16="http://schemas.microsoft.com/office/drawing/2014/main" id="{792231E6-C7D0-4653-85CA-F269226F7F10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3" name="grid-v-200">
            <a:extLst>
              <a:ext uri="{FF2B5EF4-FFF2-40B4-BE49-F238E27FC236}">
                <a16:creationId xmlns:a16="http://schemas.microsoft.com/office/drawing/2014/main" id="{CBEA9F6F-3A63-4736-9FA9-B9FAA5308A60}"/>
              </a:ext>
            </a:extLst>
          </p:cNvPr>
          <p:cNvSpPr>
            <a:spLocks noGrp="1"/>
          </p:cNvSpPr>
          <p:nvPr/>
        </p:nvSpPr>
        <p:spPr>
          <a:xfrm>
            <a:off x="1905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4" name="grid-v-320">
            <a:extLst>
              <a:ext uri="{FF2B5EF4-FFF2-40B4-BE49-F238E27FC236}">
                <a16:creationId xmlns:a16="http://schemas.microsoft.com/office/drawing/2014/main" id="{07CF2768-3E02-4F96-8581-2BB9B1D08DA5}"/>
              </a:ext>
            </a:extLst>
          </p:cNvPr>
          <p:cNvSpPr>
            <a:spLocks noGrp="1"/>
          </p:cNvSpPr>
          <p:nvPr/>
        </p:nvSpPr>
        <p:spPr>
          <a:xfrm>
            <a:off x="3048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5" name="grid-v-440">
            <a:extLst>
              <a:ext uri="{FF2B5EF4-FFF2-40B4-BE49-F238E27FC236}">
                <a16:creationId xmlns:a16="http://schemas.microsoft.com/office/drawing/2014/main" id="{B20549EA-166A-4F0C-9991-1D71198696EF}"/>
              </a:ext>
            </a:extLst>
          </p:cNvPr>
          <p:cNvSpPr>
            <a:spLocks noGrp="1"/>
          </p:cNvSpPr>
          <p:nvPr/>
        </p:nvSpPr>
        <p:spPr>
          <a:xfrm>
            <a:off x="4191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6" name="grid-v-560">
            <a:extLst>
              <a:ext uri="{FF2B5EF4-FFF2-40B4-BE49-F238E27FC236}">
                <a16:creationId xmlns:a16="http://schemas.microsoft.com/office/drawing/2014/main" id="{1130C0FC-38A3-4D84-A2D6-25C164D24BFE}"/>
              </a:ext>
            </a:extLst>
          </p:cNvPr>
          <p:cNvSpPr>
            <a:spLocks noGrp="1"/>
          </p:cNvSpPr>
          <p:nvPr/>
        </p:nvSpPr>
        <p:spPr>
          <a:xfrm>
            <a:off x="5334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7" name="grid-v-680">
            <a:extLst>
              <a:ext uri="{FF2B5EF4-FFF2-40B4-BE49-F238E27FC236}">
                <a16:creationId xmlns:a16="http://schemas.microsoft.com/office/drawing/2014/main" id="{E21C6426-2240-4D39-8BE2-1735F498B075}"/>
              </a:ext>
            </a:extLst>
          </p:cNvPr>
          <p:cNvSpPr>
            <a:spLocks noGrp="1"/>
          </p:cNvSpPr>
          <p:nvPr/>
        </p:nvSpPr>
        <p:spPr>
          <a:xfrm>
            <a:off x="6477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8" name="grid-v-800">
            <a:extLst>
              <a:ext uri="{FF2B5EF4-FFF2-40B4-BE49-F238E27FC236}">
                <a16:creationId xmlns:a16="http://schemas.microsoft.com/office/drawing/2014/main" id="{DB3C5D96-B08D-4169-ABCF-680DB1CF2E02}"/>
              </a:ext>
            </a:extLst>
          </p:cNvPr>
          <p:cNvSpPr>
            <a:spLocks noGrp="1"/>
          </p:cNvSpPr>
          <p:nvPr/>
        </p:nvSpPr>
        <p:spPr>
          <a:xfrm>
            <a:off x="7620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9" name="grid-v-920">
            <a:extLst>
              <a:ext uri="{FF2B5EF4-FFF2-40B4-BE49-F238E27FC236}">
                <a16:creationId xmlns:a16="http://schemas.microsoft.com/office/drawing/2014/main" id="{AE6CD84B-E155-474A-877A-3C3E1EC213CD}"/>
              </a:ext>
            </a:extLst>
          </p:cNvPr>
          <p:cNvSpPr>
            <a:spLocks noGrp="1"/>
          </p:cNvSpPr>
          <p:nvPr/>
        </p:nvSpPr>
        <p:spPr>
          <a:xfrm>
            <a:off x="8763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0" name="grid-v-1040">
            <a:extLst>
              <a:ext uri="{FF2B5EF4-FFF2-40B4-BE49-F238E27FC236}">
                <a16:creationId xmlns:a16="http://schemas.microsoft.com/office/drawing/2014/main" id="{5575C66E-F6C8-4A90-AABA-1E52F3E58BFC}"/>
              </a:ext>
            </a:extLst>
          </p:cNvPr>
          <p:cNvSpPr>
            <a:spLocks noGrp="1"/>
          </p:cNvSpPr>
          <p:nvPr/>
        </p:nvSpPr>
        <p:spPr>
          <a:xfrm>
            <a:off x="9906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1" name="grid-v-1160">
            <a:extLst>
              <a:ext uri="{FF2B5EF4-FFF2-40B4-BE49-F238E27FC236}">
                <a16:creationId xmlns:a16="http://schemas.microsoft.com/office/drawing/2014/main" id="{1A453BE7-BDCB-4B7B-A910-42B5FBEF5A48}"/>
              </a:ext>
            </a:extLst>
          </p:cNvPr>
          <p:cNvSpPr>
            <a:spLocks noGrp="1"/>
          </p:cNvSpPr>
          <p:nvPr/>
        </p:nvSpPr>
        <p:spPr>
          <a:xfrm>
            <a:off x="11049000" y="1028700"/>
            <a:ext cx="9525" cy="5238750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2" name="grid-h-120">
            <a:extLst>
              <a:ext uri="{FF2B5EF4-FFF2-40B4-BE49-F238E27FC236}">
                <a16:creationId xmlns:a16="http://schemas.microsoft.com/office/drawing/2014/main" id="{2A403303-1104-423A-A5D1-BE179B852B6C}"/>
              </a:ext>
            </a:extLst>
          </p:cNvPr>
          <p:cNvSpPr>
            <a:spLocks noGrp="1"/>
          </p:cNvSpPr>
          <p:nvPr/>
        </p:nvSpPr>
        <p:spPr>
          <a:xfrm>
            <a:off x="171450" y="114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3" name="grid-h-200">
            <a:extLst>
              <a:ext uri="{FF2B5EF4-FFF2-40B4-BE49-F238E27FC236}">
                <a16:creationId xmlns:a16="http://schemas.microsoft.com/office/drawing/2014/main" id="{D9792BB5-E7CB-47F5-8EC2-6782EE33824A}"/>
              </a:ext>
            </a:extLst>
          </p:cNvPr>
          <p:cNvSpPr>
            <a:spLocks noGrp="1"/>
          </p:cNvSpPr>
          <p:nvPr/>
        </p:nvSpPr>
        <p:spPr>
          <a:xfrm>
            <a:off x="171450" y="190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4" name="grid-h-280">
            <a:extLst>
              <a:ext uri="{FF2B5EF4-FFF2-40B4-BE49-F238E27FC236}">
                <a16:creationId xmlns:a16="http://schemas.microsoft.com/office/drawing/2014/main" id="{06972533-BB98-4046-B6A6-7763EA973236}"/>
              </a:ext>
            </a:extLst>
          </p:cNvPr>
          <p:cNvSpPr>
            <a:spLocks noGrp="1"/>
          </p:cNvSpPr>
          <p:nvPr/>
        </p:nvSpPr>
        <p:spPr>
          <a:xfrm>
            <a:off x="171450" y="2667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5" name="grid-h-360">
            <a:extLst>
              <a:ext uri="{FF2B5EF4-FFF2-40B4-BE49-F238E27FC236}">
                <a16:creationId xmlns:a16="http://schemas.microsoft.com/office/drawing/2014/main" id="{93EF2C35-4752-4974-A94E-60375151D749}"/>
              </a:ext>
            </a:extLst>
          </p:cNvPr>
          <p:cNvSpPr>
            <a:spLocks noGrp="1"/>
          </p:cNvSpPr>
          <p:nvPr/>
        </p:nvSpPr>
        <p:spPr>
          <a:xfrm>
            <a:off x="171450" y="3429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6" name="grid-h-440">
            <a:extLst>
              <a:ext uri="{FF2B5EF4-FFF2-40B4-BE49-F238E27FC236}">
                <a16:creationId xmlns:a16="http://schemas.microsoft.com/office/drawing/2014/main" id="{6F5EA0CF-D319-4A06-BEA3-C169727681B0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7" name="grid-h-520">
            <a:extLst>
              <a:ext uri="{FF2B5EF4-FFF2-40B4-BE49-F238E27FC236}">
                <a16:creationId xmlns:a16="http://schemas.microsoft.com/office/drawing/2014/main" id="{9522386B-FE11-4DA6-BE34-4FF84090E858}"/>
              </a:ext>
            </a:extLst>
          </p:cNvPr>
          <p:cNvSpPr>
            <a:spLocks noGrp="1"/>
          </p:cNvSpPr>
          <p:nvPr/>
        </p:nvSpPr>
        <p:spPr>
          <a:xfrm>
            <a:off x="171450" y="4953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8" name="grid-h-600">
            <a:extLst>
              <a:ext uri="{FF2B5EF4-FFF2-40B4-BE49-F238E27FC236}">
                <a16:creationId xmlns:a16="http://schemas.microsoft.com/office/drawing/2014/main" id="{5AB0CCFC-D0C4-4D5E-8DE1-E62654AAC5E0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11849100" cy="9525"/>
          </a:xfrm>
          <a:prstGeom prst="rect">
            <a:avLst/>
          </a:prstGeom>
          <a:solidFill>
            <a:srgbClr val="0B160C"/>
          </a:solidFill>
          <a:ln w="0">
            <a:solidFill>
              <a:srgbClr val="0B160C"/>
            </a:solidFill>
            <a:prstDash val="solid"/>
          </a:ln>
        </p:spPr>
      </p:sp>
      <p:sp>
        <p:nvSpPr>
          <p:cNvPr id="19" name="outer-frame">
            <a:extLst>
              <a:ext uri="{FF2B5EF4-FFF2-40B4-BE49-F238E27FC236}">
                <a16:creationId xmlns:a16="http://schemas.microsoft.com/office/drawing/2014/main" id="{47F36D02-FEC0-49C7-B0CC-27E4FCA5ACDA}"/>
              </a:ext>
            </a:extLst>
          </p:cNvPr>
          <p:cNvSpPr>
            <a:spLocks noGrp="1"/>
          </p:cNvSpPr>
          <p:nvPr/>
        </p:nvSpPr>
        <p:spPr>
          <a:xfrm>
            <a:off x="114300" y="114300"/>
            <a:ext cx="11963400" cy="6629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C37412"/>
            </a:solidFill>
            <a:prstDash val="solid"/>
          </a:ln>
        </p:spPr>
      </p:sp>
      <p:sp>
        <p:nvSpPr>
          <p:cNvPr id="20" name="kicker-19-marker">
            <a:extLst>
              <a:ext uri="{FF2B5EF4-FFF2-40B4-BE49-F238E27FC236}">
                <a16:creationId xmlns:a16="http://schemas.microsoft.com/office/drawing/2014/main" id="{2D4DACA6-B59F-4C13-8B43-DE2B405DA924}"/>
              </a:ext>
            </a:extLst>
          </p:cNvPr>
          <p:cNvSpPr>
            <a:spLocks noGrp="1"/>
          </p:cNvSpPr>
          <p:nvPr/>
        </p:nvSpPr>
        <p:spPr>
          <a:xfrm>
            <a:off x="342900" y="323850"/>
            <a:ext cx="171450" cy="38100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1" name="kicker-19-label">
            <a:extLst>
              <a:ext uri="{FF2B5EF4-FFF2-40B4-BE49-F238E27FC236}">
                <a16:creationId xmlns:a16="http://schemas.microsoft.com/office/drawing/2014/main" id="{515BF552-0DFB-4543-8049-DC381AF3FB2B}"/>
              </a:ext>
            </a:extLst>
          </p:cNvPr>
          <p:cNvSpPr>
            <a:spLocks noGrp="1"/>
          </p:cNvSpPr>
          <p:nvPr/>
        </p:nvSpPr>
        <p:spPr>
          <a:xfrm>
            <a:off x="609600" y="200025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19.QUICK_REFERENCE</a:t>
            </a:r>
          </a:p>
        </p:txBody>
      </p:sp>
      <p:sp>
        <p:nvSpPr>
          <p:cNvPr id="22" name="slide-19-title">
            <a:extLst>
              <a:ext uri="{FF2B5EF4-FFF2-40B4-BE49-F238E27FC236}">
                <a16:creationId xmlns:a16="http://schemas.microsoft.com/office/drawing/2014/main" id="{6FC06B9E-D49B-44F8-A10B-E2894395D1BC}"/>
              </a:ext>
            </a:extLst>
          </p:cNvPr>
          <p:cNvSpPr>
            <a:spLocks noGrp="1"/>
          </p:cNvSpPr>
          <p:nvPr/>
        </p:nvSpPr>
        <p:spPr>
          <a:xfrm>
            <a:off x="342900" y="523875"/>
            <a:ext cx="1123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把这一页放在代码旁边</a:t>
            </a:r>
          </a:p>
        </p:txBody>
      </p:sp>
      <p:sp>
        <p:nvSpPr>
          <p:cNvPr id="23" name="title-rule">
            <a:extLst>
              <a:ext uri="{FF2B5EF4-FFF2-40B4-BE49-F238E27FC236}">
                <a16:creationId xmlns:a16="http://schemas.microsoft.com/office/drawing/2014/main" id="{EBD75536-6564-4DA8-94C5-69D1376198EA}"/>
              </a:ext>
            </a:extLst>
          </p:cNvPr>
          <p:cNvSpPr>
            <a:spLocks noGrp="1"/>
          </p:cNvSpPr>
          <p:nvPr/>
        </p:nvSpPr>
        <p:spPr>
          <a:xfrm>
            <a:off x="342900" y="1057275"/>
            <a:ext cx="11506200" cy="19050"/>
          </a:xfrm>
          <a:prstGeom prst="rect">
            <a:avLst/>
          </a:prstGeom>
          <a:solidFill>
            <a:srgbClr val="C37412"/>
          </a:solidFill>
          <a:ln w="0">
            <a:solidFill>
              <a:srgbClr val="C37412"/>
            </a:solidFill>
            <a:prstDash val="solid"/>
          </a:ln>
        </p:spPr>
      </p:sp>
      <p:sp>
        <p:nvSpPr>
          <p:cNvPr id="24" name="source-footer">
            <a:extLst>
              <a:ext uri="{FF2B5EF4-FFF2-40B4-BE49-F238E27FC236}">
                <a16:creationId xmlns:a16="http://schemas.microsoft.com/office/drawing/2014/main" id="{2F2FC669-46C9-4E5B-84B2-D6A45A8D39FD}"/>
              </a:ext>
            </a:extLst>
          </p:cNvPr>
          <p:cNvSpPr>
            <a:spLocks noGrp="1"/>
          </p:cNvSpPr>
          <p:nvPr/>
        </p:nvSpPr>
        <p:spPr>
          <a:xfrm>
            <a:off x="342900" y="648652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windows/assets/presets/preset-codex-tactical-crt.css</a:t>
            </a:r>
          </a:p>
        </p:txBody>
      </p:sp>
      <p:sp>
        <p:nvSpPr>
          <p:cNvPr id="25" name="page-marker">
            <a:extLst>
              <a:ext uri="{FF2B5EF4-FFF2-40B4-BE49-F238E27FC236}">
                <a16:creationId xmlns:a16="http://schemas.microsoft.com/office/drawing/2014/main" id="{2FC150A5-0F62-4579-BED1-1DD80F3C7436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5B35B5-2DE4-4168-808A-49E5D8EF7E31}"/>
              </a:ext>
            </a:extLst>
          </p:cNvPr>
          <p:cNvSpPr>
            <a:spLocks noGrp="1"/>
          </p:cNvSpPr>
          <p:nvPr/>
        </p:nvSpPr>
        <p:spPr>
          <a:xfrm>
            <a:off x="457200" y="1352550"/>
            <a:ext cx="5391150" cy="4457700"/>
          </a:xfrm>
          <a:prstGeom prst="rect">
            <a:avLst/>
          </a:prstGeom>
          <a:solidFill>
            <a:srgbClr val="080403"/>
          </a:solidFill>
          <a:ln w="9525">
            <a:solidFill>
              <a:srgbClr val="D7AD5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A83A49-F81D-4F04-B1C8-33C3658FBA3B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5391150" cy="9525"/>
          </a:xfrm>
          <a:prstGeom prst="rect">
            <a:avLst/>
          </a:prstGeom>
          <a:solidFill>
            <a:srgbClr val="D7AD55"/>
          </a:solidFill>
          <a:ln w="0">
            <a:solidFill>
              <a:srgbClr val="D7AD5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A9F0B2-00B8-44CE-8480-BBA1A7FBBAE1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512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CSS GRAMMAR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18BCE98-8009-4C68-AD00-43957D02523D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.panel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B8C62F-0D25-44B7-A49C-B6A926998C28}"/>
              </a:ext>
            </a:extLst>
          </p:cNvPr>
          <p:cNvSpPr>
            <a:spLocks noGrp="1"/>
          </p:cNvSpPr>
          <p:nvPr/>
        </p:nvSpPr>
        <p:spPr>
          <a:xfrm>
            <a:off x="3524250" y="188595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class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6F764B5-5DDE-479A-909D-AB3658696648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2CBF7C-3822-4B4B-85E6-91272EF25B61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#scrollbar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6C3DBD6-33BF-4A82-9C26-D6533EDE0830}"/>
              </a:ext>
            </a:extLst>
          </p:cNvPr>
          <p:cNvSpPr>
            <a:spLocks noGrp="1"/>
          </p:cNvSpPr>
          <p:nvPr/>
        </p:nvSpPr>
        <p:spPr>
          <a:xfrm>
            <a:off x="3524250" y="2333625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id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FC42448-64D6-445F-8F9B-3F689A0B9C29}"/>
              </a:ext>
            </a:extLst>
          </p:cNvPr>
          <p:cNvSpPr>
            <a:spLocks noGrp="1"/>
          </p:cNvSpPr>
          <p:nvPr/>
        </p:nvSpPr>
        <p:spPr>
          <a:xfrm>
            <a:off x="723900" y="2657475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63DFDA-5863-48B5-B2AE-C8E4C1CAE155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[data-x="y"]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D71DE99-2B9B-457B-B8B4-CD5BB46E760F}"/>
              </a:ext>
            </a:extLst>
          </p:cNvPr>
          <p:cNvSpPr>
            <a:spLocks noGrp="1"/>
          </p:cNvSpPr>
          <p:nvPr/>
        </p:nvSpPr>
        <p:spPr>
          <a:xfrm>
            <a:off x="3524250" y="27813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attribute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692C14-5217-4CF0-9F36-540126D5A3ED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FEDB40A-40AF-4063-B717-FFB548A34A41}"/>
              </a:ext>
            </a:extLst>
          </p:cNvPr>
          <p:cNvSpPr>
            <a:spLocks noGrp="1"/>
          </p:cNvSpPr>
          <p:nvPr/>
        </p:nvSpPr>
        <p:spPr>
          <a:xfrm>
            <a:off x="723900" y="3228975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.a &gt; .b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27D86AD-5A07-4CC0-AC79-5EF9C305C325}"/>
              </a:ext>
            </a:extLst>
          </p:cNvPr>
          <p:cNvSpPr>
            <a:spLocks noGrp="1"/>
          </p:cNvSpPr>
          <p:nvPr/>
        </p:nvSpPr>
        <p:spPr>
          <a:xfrm>
            <a:off x="3524250" y="3228975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direct child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7ED47C-5BDF-4C6F-8D65-5AFA71EFFF9C}"/>
              </a:ext>
            </a:extLst>
          </p:cNvPr>
          <p:cNvSpPr>
            <a:spLocks noGrp="1"/>
          </p:cNvSpPr>
          <p:nvPr/>
        </p:nvSpPr>
        <p:spPr>
          <a:xfrm>
            <a:off x="723900" y="3552825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6CC6D67-A0F0-4DB2-8C86-3CCE9466CA0E}"/>
              </a:ext>
            </a:extLst>
          </p:cNvPr>
          <p:cNvSpPr>
            <a:spLocks noGrp="1"/>
          </p:cNvSpPr>
          <p:nvPr/>
        </p:nvSpPr>
        <p:spPr>
          <a:xfrm>
            <a:off x="723900" y="36766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::before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002B51-269C-4BA2-BDED-675C096B23E5}"/>
              </a:ext>
            </a:extLst>
          </p:cNvPr>
          <p:cNvSpPr>
            <a:spLocks noGrp="1"/>
          </p:cNvSpPr>
          <p:nvPr/>
        </p:nvSpPr>
        <p:spPr>
          <a:xfrm>
            <a:off x="3524250" y="367665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pseudo-element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7A9776A-E320-4607-99BA-D3E94D224938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4468137-29EE-4972-96F7-B5AA183B9DAA}"/>
              </a:ext>
            </a:extLst>
          </p:cNvPr>
          <p:cNvSpPr>
            <a:spLocks noGrp="1"/>
          </p:cNvSpPr>
          <p:nvPr/>
        </p:nvSpPr>
        <p:spPr>
          <a:xfrm>
            <a:off x="723900" y="4124325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var(--x, 8px)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E6BB1CA-988D-48CA-B872-B5BD359976FC}"/>
              </a:ext>
            </a:extLst>
          </p:cNvPr>
          <p:cNvSpPr>
            <a:spLocks noGrp="1"/>
          </p:cNvSpPr>
          <p:nvPr/>
        </p:nvSpPr>
        <p:spPr>
          <a:xfrm>
            <a:off x="3524250" y="4124325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token + fallback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B4579BB-49D2-4606-9DB3-92520C2EC998}"/>
              </a:ext>
            </a:extLst>
          </p:cNvPr>
          <p:cNvSpPr>
            <a:spLocks noGrp="1"/>
          </p:cNvSpPr>
          <p:nvPr/>
        </p:nvSpPr>
        <p:spPr>
          <a:xfrm>
            <a:off x="723900" y="4448175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81B3844-DA2A-4CBA-9A59-2E2DD4467DB1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calc(...)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08C0C72-90F9-4662-ACFF-2C9D365233A0}"/>
              </a:ext>
            </a:extLst>
          </p:cNvPr>
          <p:cNvSpPr>
            <a:spLocks noGrp="1"/>
          </p:cNvSpPr>
          <p:nvPr/>
        </p:nvSpPr>
        <p:spPr>
          <a:xfrm>
            <a:off x="3524250" y="4572000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dimension math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63CC6F9-6564-45B1-AF19-EEFA47ACA701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E635A96-645A-4A30-B94C-F13412E559B8}"/>
              </a:ext>
            </a:extLst>
          </p:cNvPr>
          <p:cNvSpPr>
            <a:spLocks noGrp="1"/>
          </p:cNvSpPr>
          <p:nvPr/>
        </p:nvSpPr>
        <p:spPr>
          <a:xfrm>
            <a:off x="723900" y="5019675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overflow-y: auto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5C56D32-A38F-4E19-852B-41355FB095DF}"/>
              </a:ext>
            </a:extLst>
          </p:cNvPr>
          <p:cNvSpPr>
            <a:spLocks noGrp="1"/>
          </p:cNvSpPr>
          <p:nvPr/>
        </p:nvSpPr>
        <p:spPr>
          <a:xfrm>
            <a:off x="3524250" y="5019675"/>
            <a:ext cx="1981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B8A477"/>
                </a:solidFill>
                <a:latin typeface="Cascadia Mono"/>
                <a:ea typeface="Cascadia Mono"/>
                <a:cs typeface="Cascadia Mono"/>
              </a:rPr>
              <a:t>scroll surface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88EEE0D-C6D2-4B25-9CB7-A6941668FA38}"/>
              </a:ext>
            </a:extLst>
          </p:cNvPr>
          <p:cNvSpPr>
            <a:spLocks noGrp="1"/>
          </p:cNvSpPr>
          <p:nvPr/>
        </p:nvSpPr>
        <p:spPr>
          <a:xfrm>
            <a:off x="723900" y="5343525"/>
            <a:ext cx="4781550" cy="9525"/>
          </a:xfrm>
          <a:prstGeom prst="rect">
            <a:avLst/>
          </a:prstGeom>
          <a:solidFill>
            <a:srgbClr val="4D2A08"/>
          </a:solidFill>
          <a:ln w="0">
            <a:solidFill>
              <a:srgbClr val="4D2A08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CA82881-B9EF-4E8B-80C2-D04C5D920A39}"/>
              </a:ext>
            </a:extLst>
          </p:cNvPr>
          <p:cNvSpPr>
            <a:spLocks noGrp="1"/>
          </p:cNvSpPr>
          <p:nvPr/>
        </p:nvSpPr>
        <p:spPr>
          <a:xfrm>
            <a:off x="6343650" y="1352550"/>
            <a:ext cx="5391150" cy="4457700"/>
          </a:xfrm>
          <a:prstGeom prst="rect">
            <a:avLst/>
          </a:prstGeom>
          <a:solidFill>
            <a:srgbClr val="080403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9ED9DC1-2DEA-4378-A24C-C90F79B275D1}"/>
              </a:ext>
            </a:extLst>
          </p:cNvPr>
          <p:cNvSpPr>
            <a:spLocks noGrp="1"/>
          </p:cNvSpPr>
          <p:nvPr/>
        </p:nvSpPr>
        <p:spPr>
          <a:xfrm>
            <a:off x="6343650" y="1714500"/>
            <a:ext cx="5391150" cy="9525"/>
          </a:xfrm>
          <a:prstGeom prst="rect">
            <a:avLst/>
          </a:prstGeom>
          <a:solidFill>
            <a:srgbClr val="49B81F"/>
          </a:solidFill>
          <a:ln w="0">
            <a:solidFill>
              <a:srgbClr val="49B81F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8C4D953-591D-45EA-8265-B31ADCBFDDC6}"/>
              </a:ext>
            </a:extLst>
          </p:cNvPr>
          <p:cNvSpPr>
            <a:spLocks noGrp="1"/>
          </p:cNvSpPr>
          <p:nvPr/>
        </p:nvSpPr>
        <p:spPr>
          <a:xfrm>
            <a:off x="6477000" y="1428750"/>
            <a:ext cx="5124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PROJECT DECISION MAP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FB269FD-D9CB-44F4-8936-5D19699E1E18}"/>
              </a:ext>
            </a:extLst>
          </p:cNvPr>
          <p:cNvSpPr>
            <a:spLocks noGrp="1"/>
          </p:cNvSpPr>
          <p:nvPr/>
        </p:nvSpPr>
        <p:spPr>
          <a:xfrm>
            <a:off x="6629400" y="19431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颜色 / 线宽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548390C-F057-4062-B381-405239952B58}"/>
              </a:ext>
            </a:extLst>
          </p:cNvPr>
          <p:cNvSpPr>
            <a:spLocks noGrp="1"/>
          </p:cNvSpPr>
          <p:nvPr/>
        </p:nvSpPr>
        <p:spPr>
          <a:xfrm>
            <a:off x="8877300" y="19431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theme.json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32B821D-D176-4B7E-BAC3-072F5B58E57B}"/>
              </a:ext>
            </a:extLst>
          </p:cNvPr>
          <p:cNvSpPr>
            <a:spLocks noGrp="1"/>
          </p:cNvSpPr>
          <p:nvPr/>
        </p:nvSpPr>
        <p:spPr>
          <a:xfrm>
            <a:off x="6629400" y="2305050"/>
            <a:ext cx="4800600" cy="9525"/>
          </a:xfrm>
          <a:prstGeom prst="rect">
            <a:avLst/>
          </a:prstGeom>
          <a:solidFill>
            <a:srgbClr val="153D0F"/>
          </a:solidFill>
          <a:ln w="0">
            <a:solidFill>
              <a:srgbClr val="153D0F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D25DF89-02E6-4A06-A7AB-026AD1AC0311}"/>
              </a:ext>
            </a:extLst>
          </p:cNvPr>
          <p:cNvSpPr>
            <a:spLocks noGrp="1"/>
          </p:cNvSpPr>
          <p:nvPr/>
        </p:nvSpPr>
        <p:spPr>
          <a:xfrm>
            <a:off x="6629400" y="24955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间距 / 框线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BF4FDED-814C-4134-BCCB-424C88685725}"/>
              </a:ext>
            </a:extLst>
          </p:cNvPr>
          <p:cNvSpPr>
            <a:spLocks noGrp="1"/>
          </p:cNvSpPr>
          <p:nvPr/>
        </p:nvSpPr>
        <p:spPr>
          <a:xfrm>
            <a:off x="8877300" y="24955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Tactical CSS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9641183-6F8E-4DB2-8D17-0EE77E612871}"/>
              </a:ext>
            </a:extLst>
          </p:cNvPr>
          <p:cNvSpPr>
            <a:spLocks noGrp="1"/>
          </p:cNvSpPr>
          <p:nvPr/>
        </p:nvSpPr>
        <p:spPr>
          <a:xfrm>
            <a:off x="6629400" y="2857500"/>
            <a:ext cx="4800600" cy="9525"/>
          </a:xfrm>
          <a:prstGeom prst="rect">
            <a:avLst/>
          </a:prstGeom>
          <a:solidFill>
            <a:srgbClr val="153D0F"/>
          </a:solidFill>
          <a:ln w="0">
            <a:solidFill>
              <a:srgbClr val="153D0F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CFFF051-267D-49E8-A0F3-644171E2843B}"/>
              </a:ext>
            </a:extLst>
          </p:cNvPr>
          <p:cNvSpPr>
            <a:spLocks noGrp="1"/>
          </p:cNvSpPr>
          <p:nvPr/>
        </p:nvSpPr>
        <p:spPr>
          <a:xfrm>
            <a:off x="6629400" y="30480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Flex / Position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FC36251-E743-4642-B346-9110EFD19A06}"/>
              </a:ext>
            </a:extLst>
          </p:cNvPr>
          <p:cNvSpPr>
            <a:spLocks noGrp="1"/>
          </p:cNvSpPr>
          <p:nvPr/>
        </p:nvSpPr>
        <p:spPr>
          <a:xfrm>
            <a:off x="8877300" y="30480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7AD55"/>
                </a:solidFill>
                <a:latin typeface="Cascadia Mono"/>
                <a:ea typeface="Cascadia Mono"/>
                <a:cs typeface="Cascadia Mono"/>
              </a:rPr>
              <a:t>Tactical CSS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6B1AA5B-BBB3-48B8-99F2-A57E5D11C5B7}"/>
              </a:ext>
            </a:extLst>
          </p:cNvPr>
          <p:cNvSpPr>
            <a:spLocks noGrp="1"/>
          </p:cNvSpPr>
          <p:nvPr/>
        </p:nvSpPr>
        <p:spPr>
          <a:xfrm>
            <a:off x="6629400" y="3409950"/>
            <a:ext cx="4800600" cy="9525"/>
          </a:xfrm>
          <a:prstGeom prst="rect">
            <a:avLst/>
          </a:prstGeom>
          <a:solidFill>
            <a:srgbClr val="153D0F"/>
          </a:solidFill>
          <a:ln w="0">
            <a:solidFill>
              <a:srgbClr val="153D0F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D2DB705-302B-48B1-BE86-AA34B7431452}"/>
              </a:ext>
            </a:extLst>
          </p:cNvPr>
          <p:cNvSpPr>
            <a:spLocks noGrp="1"/>
          </p:cNvSpPr>
          <p:nvPr/>
        </p:nvSpPr>
        <p:spPr>
          <a:xfrm>
            <a:off x="6629400" y="36004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运行时尺寸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A0DAFD6-DF95-475F-8BAC-019A9E8700AA}"/>
              </a:ext>
            </a:extLst>
          </p:cNvPr>
          <p:cNvSpPr>
            <a:spLocks noGrp="1"/>
          </p:cNvSpPr>
          <p:nvPr/>
        </p:nvSpPr>
        <p:spPr>
          <a:xfrm>
            <a:off x="8877300" y="36004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renderer-inject.js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8DFA8D7-1CB4-4F9C-B416-152E087100B6}"/>
              </a:ext>
            </a:extLst>
          </p:cNvPr>
          <p:cNvSpPr>
            <a:spLocks noGrp="1"/>
          </p:cNvSpPr>
          <p:nvPr/>
        </p:nvSpPr>
        <p:spPr>
          <a:xfrm>
            <a:off x="6629400" y="3962400"/>
            <a:ext cx="4800600" cy="9525"/>
          </a:xfrm>
          <a:prstGeom prst="rect">
            <a:avLst/>
          </a:prstGeom>
          <a:solidFill>
            <a:srgbClr val="153D0F"/>
          </a:solidFill>
          <a:ln w="0">
            <a:solidFill>
              <a:srgbClr val="153D0F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3CDD7C8-EEA5-4EC3-89AE-53763837130F}"/>
              </a:ext>
            </a:extLst>
          </p:cNvPr>
          <p:cNvSpPr>
            <a:spLocks noGrp="1"/>
          </p:cNvSpPr>
          <p:nvPr/>
        </p:nvSpPr>
        <p:spPr>
          <a:xfrm>
            <a:off x="6629400" y="41529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拖动 / 滚轮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1B19077-6178-4F36-8876-6E6512BAA4EB}"/>
              </a:ext>
            </a:extLst>
          </p:cNvPr>
          <p:cNvSpPr>
            <a:spLocks noGrp="1"/>
          </p:cNvSpPr>
          <p:nvPr/>
        </p:nvSpPr>
        <p:spPr>
          <a:xfrm>
            <a:off x="8877300" y="415290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renderer-inject.js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1F67820-2558-477E-8AAC-B3F0F4FD3F7E}"/>
              </a:ext>
            </a:extLst>
          </p:cNvPr>
          <p:cNvSpPr>
            <a:spLocks noGrp="1"/>
          </p:cNvSpPr>
          <p:nvPr/>
        </p:nvSpPr>
        <p:spPr>
          <a:xfrm>
            <a:off x="6629400" y="4514850"/>
            <a:ext cx="4800600" cy="9525"/>
          </a:xfrm>
          <a:prstGeom prst="rect">
            <a:avLst/>
          </a:prstGeom>
          <a:solidFill>
            <a:srgbClr val="153D0F"/>
          </a:solidFill>
          <a:ln w="0">
            <a:solidFill>
              <a:srgbClr val="153D0F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EC36DDB-2B02-401A-ACF8-BD3FF340E400}"/>
              </a:ext>
            </a:extLst>
          </p:cNvPr>
          <p:cNvSpPr>
            <a:spLocks noGrp="1"/>
          </p:cNvSpPr>
          <p:nvPr/>
        </p:nvSpPr>
        <p:spPr>
          <a:xfrm>
            <a:off x="6629400" y="47053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D7B0"/>
                </a:solidFill>
                <a:latin typeface="Microsoft YaHei UI"/>
                <a:ea typeface="Microsoft YaHei UI"/>
                <a:cs typeface="Microsoft YaHei UI"/>
              </a:rPr>
              <a:t>加载 / 清理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1CB7BFB-72A2-4E25-B05E-92A41A70A748}"/>
              </a:ext>
            </a:extLst>
          </p:cNvPr>
          <p:cNvSpPr>
            <a:spLocks noGrp="1"/>
          </p:cNvSpPr>
          <p:nvPr/>
        </p:nvSpPr>
        <p:spPr>
          <a:xfrm>
            <a:off x="8877300" y="4705350"/>
            <a:ext cx="2552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injector.mjs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F4DDAAC-3D46-4FCA-AA1B-3A0F37FC58ED}"/>
              </a:ext>
            </a:extLst>
          </p:cNvPr>
          <p:cNvSpPr>
            <a:spLocks noGrp="1"/>
          </p:cNvSpPr>
          <p:nvPr/>
        </p:nvSpPr>
        <p:spPr>
          <a:xfrm>
            <a:off x="6629400" y="5067300"/>
            <a:ext cx="4800600" cy="9525"/>
          </a:xfrm>
          <a:prstGeom prst="rect">
            <a:avLst/>
          </a:prstGeom>
          <a:solidFill>
            <a:srgbClr val="153D0F"/>
          </a:solidFill>
          <a:ln w="0">
            <a:solidFill>
              <a:srgbClr val="153D0F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2CCEC79-08EB-4787-A72E-6E6E3F5CA7BF}"/>
              </a:ext>
            </a:extLst>
          </p:cNvPr>
          <p:cNvSpPr>
            <a:spLocks noGrp="1"/>
          </p:cNvSpPr>
          <p:nvPr/>
        </p:nvSpPr>
        <p:spPr>
          <a:xfrm>
            <a:off x="6858000" y="5219700"/>
            <a:ext cx="4362450" cy="400050"/>
          </a:xfrm>
          <a:prstGeom prst="rect">
            <a:avLst/>
          </a:prstGeom>
          <a:solidFill>
            <a:srgbClr val="153D0F"/>
          </a:solidFill>
          <a:ln w="9525">
            <a:solidFill>
              <a:srgbClr val="49B81F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2213354-DB81-4EC4-861A-D336D576745C}"/>
              </a:ext>
            </a:extLst>
          </p:cNvPr>
          <p:cNvSpPr>
            <a:spLocks noGrp="1"/>
          </p:cNvSpPr>
          <p:nvPr/>
        </p:nvSpPr>
        <p:spPr>
          <a:xfrm>
            <a:off x="6858000" y="527685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49B81F"/>
                </a:solidFill>
                <a:latin typeface="Cascadia Mono"/>
                <a:ea typeface="Cascadia Mono"/>
                <a:cs typeface="Cascadia Mono"/>
              </a:rPr>
              <a:t>视觉 → CSS ｜ 行为 → JS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0571B7D-3972-401F-B91F-E236DB9E1AF9}"/>
              </a:ext>
            </a:extLst>
          </p:cNvPr>
          <p:cNvSpPr>
            <a:spLocks noGrp="1"/>
          </p:cNvSpPr>
          <p:nvPr/>
        </p:nvSpPr>
        <p:spPr>
          <a:xfrm>
            <a:off x="1104900" y="6000750"/>
            <a:ext cx="9982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D7AD5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D7AD55"/>
                </a:solidFill>
                <a:latin typeface="Microsoft YaHei UI"/>
                <a:ea typeface="Microsoft YaHei UI"/>
                <a:cs typeface="Microsoft YaHei UI"/>
              </a:rPr>
              <a:t>下一步：打开 DevTools，挑一个 2px 的问题，完成一次完整修改循环。</a:t>
            </a:r>
          </a:p>
        </p:txBody>
      </p:sp>
    </p:spTree>
    <p:extLst>
      <p:ext uri="{BB962C8B-B14F-4D97-AF65-F5344CB8AC3E}">
        <p14:creationId xmlns:p14="http://schemas.microsoft.com/office/powerpoint/2010/main" val="11190054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DocSecurity>0</DocSecurity>
  <PresentationFormat>宽屏</PresentationFormat>
  <Paragraphs>393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Microsoft YaHei UI</vt:lpstr>
      <vt:lpstr>Calibri</vt:lpstr>
      <vt:lpstr>Cascadia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治言 董</cp:lastModifiedBy>
  <cp:revision>1</cp:revision>
  <dcterms:created xsi:type="dcterms:W3CDTF">2026-07-24T14:59:20Z</dcterms:created>
  <dcterms:modified xsi:type="dcterms:W3CDTF">2026-07-25T03:19:17Z</dcterms:modified>
</cp:coreProperties>
</file>